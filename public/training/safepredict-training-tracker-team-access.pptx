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5ad727fa74774" /><Relationship Type="http://schemas.openxmlformats.org/officeDocument/2006/relationships/extended-properties" Target="/docProps/app.xml" Id="R0689a4d1c5734107" /><Relationship Type="http://schemas.openxmlformats.org/officeDocument/2006/relationships/officeDocument" Target="/ppt/presentation.xml" Id="R37575ab3989e4e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cf7edda78845d1"/>
  </p:sldMasterIdLst>
  <p:notesMasterIdLst>
    <p:notesMasterId xmlns:r="http://schemas.openxmlformats.org/officeDocument/2006/relationships" r:id="R66640b951c384b4f"/>
  </p:notesMasterIdLst>
  <p:sldIdLst>
    <p:sldId xmlns:r="http://schemas.openxmlformats.org/officeDocument/2006/relationships" id="256" r:id="R7139721f1ed4482b"/>
    <p:sldId xmlns:r="http://schemas.openxmlformats.org/officeDocument/2006/relationships" id="257" r:id="R5e6f513824a0489e"/>
    <p:sldId xmlns:r="http://schemas.openxmlformats.org/officeDocument/2006/relationships" id="258" r:id="Rdd006604b07a4f7d"/>
    <p:sldId xmlns:r="http://schemas.openxmlformats.org/officeDocument/2006/relationships" id="259" r:id="R252843928cff4fae"/>
    <p:sldId xmlns:r="http://schemas.openxmlformats.org/officeDocument/2006/relationships" id="260" r:id="R2cc8594844d84aca"/>
    <p:sldId xmlns:r="http://schemas.openxmlformats.org/officeDocument/2006/relationships" id="261" r:id="R8a4d14e631f84bb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f7edda78845d1" /><Relationship Type="http://schemas.openxmlformats.org/officeDocument/2006/relationships/theme" Target="/ppt/theme/theme1.xml" Id="R9d534fd278444aee" /><Relationship Type="http://schemas.openxmlformats.org/officeDocument/2006/relationships/notesMaster" Target="/ppt/notesMasters/notesMaster1.xml" Id="R66640b951c384b4f" /><Relationship Type="http://schemas.openxmlformats.org/officeDocument/2006/relationships/presProps" Target="/ppt/presProps.xml" Id="R8aa4b820012941c1" /><Relationship Type="http://schemas.openxmlformats.org/officeDocument/2006/relationships/viewProps" Target="/ppt/viewProps.xml" Id="Raadd719fd64347e0" /><Relationship Type="http://schemas.openxmlformats.org/officeDocument/2006/relationships/tableStyles" Target="/ppt/tableStyles.xml" Id="R767dbc324f7649d8" /><Relationship Type="http://schemas.openxmlformats.org/officeDocument/2006/relationships/slide" Target="/ppt/slides/slide1.xml" Id="R7139721f1ed4482b" /><Relationship Type="http://schemas.openxmlformats.org/officeDocument/2006/relationships/slide" Target="/ppt/slides/slide2.xml" Id="R5e6f513824a0489e" /><Relationship Type="http://schemas.openxmlformats.org/officeDocument/2006/relationships/slide" Target="/ppt/slides/slide3.xml" Id="Rdd006604b07a4f7d" /><Relationship Type="http://schemas.openxmlformats.org/officeDocument/2006/relationships/slide" Target="/ppt/slides/slide4.xml" Id="R252843928cff4fae" /><Relationship Type="http://schemas.openxmlformats.org/officeDocument/2006/relationships/slide" Target="/ppt/slides/slide5.xml" Id="R2cc8594844d84aca" /><Relationship Type="http://schemas.openxmlformats.org/officeDocument/2006/relationships/slide" Target="/ppt/slides/slide6.xml" Id="R8a4d14e631f84b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139f0a3d3ff42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d18fb0c384e20" /><Relationship Type="http://schemas.openxmlformats.org/officeDocument/2006/relationships/notesMaster" Target="/ppt/notesMasters/notesMaster1.xml" Id="R5ff38355fc2248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bb670501c34326" /><Relationship Type="http://schemas.openxmlformats.org/officeDocument/2006/relationships/notesMaster" Target="/ppt/notesMasters/notesMaster1.xml" Id="R8c458f71c0784f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ca7fed1bb94f00" /><Relationship Type="http://schemas.openxmlformats.org/officeDocument/2006/relationships/notesMaster" Target="/ppt/notesMasters/notesMaster1.xml" Id="R24bf500086584b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434f91b80e4b54" /><Relationship Type="http://schemas.openxmlformats.org/officeDocument/2006/relationships/notesMaster" Target="/ppt/notesMasters/notesMaster1.xml" Id="R77ed150469ad45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4c920e80254af8" /><Relationship Type="http://schemas.openxmlformats.org/officeDocument/2006/relationships/notesMaster" Target="/ppt/notesMasters/notesMaster1.xml" Id="R89013cfbf1c843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c6d26062ab40ad" /><Relationship Type="http://schemas.openxmlformats.org/officeDocument/2006/relationships/notesMaster" Target="/ppt/notesMasters/notesMaster1.xml" Id="Ra73f63f1779547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83c12fc934dc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61dd068dea24cec" /><Relationship Type="http://schemas.openxmlformats.org/officeDocument/2006/relationships/slideLayout" Target="/ppt/slideLayouts/slideLayout2.xml" Id="R8f0f447548214a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0f447548214a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2e0b4c8dc34ab1" /><Relationship Type="http://schemas.openxmlformats.org/officeDocument/2006/relationships/notesSlide" Target="/ppt/notesSlides/notesSlide1.xml" Id="Rc2a25807de1d44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098f5be6184e8d" /><Relationship Type="http://schemas.openxmlformats.org/officeDocument/2006/relationships/notesSlide" Target="/ppt/notesSlides/notesSlide2.xml" Id="R831f2c5ff7b9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2d9aa69300426b" /><Relationship Type="http://schemas.openxmlformats.org/officeDocument/2006/relationships/notesSlide" Target="/ppt/notesSlides/notesSlide3.xml" Id="R39faa4029e274f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e9b565bdca42a3" /><Relationship Type="http://schemas.openxmlformats.org/officeDocument/2006/relationships/notesSlide" Target="/ppt/notesSlides/notesSlide4.xml" Id="R9a86a5b7ff184c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2e2c5064044e43" /><Relationship Type="http://schemas.openxmlformats.org/officeDocument/2006/relationships/notesSlide" Target="/ppt/notesSlides/notesSlide5.xml" Id="R9ba12442f35b48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0a21f18704a13" /><Relationship Type="http://schemas.openxmlformats.org/officeDocument/2006/relationships/notesSlide" Target="/ppt/notesSlides/notesSlide6.xml" Id="R907f6665b3cd4a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1558AA1-8A79-4BF2-8B3F-202022C6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309"/>
                </a:solidFill>
              </a:defRPr>
            </a:pPr>
            <a:r>
              <a:rPr sz="1800" b="1">
                <a:solidFill>
                  <a:srgbClr val="B45309"/>
                </a:solidFill>
              </a:rPr>
              <a:t>Safety360Docs Platform Training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05AB34D-C884-40F5-A31F-8A6DCC53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85153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F172A"/>
                </a:solidFill>
              </a:defRPr>
            </a:pPr>
            <a:r>
              <a:rPr sz="5700" b="1">
                <a:solidFill>
                  <a:srgbClr val="0F172A"/>
                </a:solidFill>
              </a:rPr>
              <a:t>Training Tracker And Team Access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00342BF5-0476-4697-8B8D-D5500381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863F701-2AF9-4489-8DCD-C90750DF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67818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334155"/>
                </a:solidFill>
              </a:defRPr>
            </a:pPr>
            <a:r>
              <a:rPr sz="2475">
                <a:solidFill>
                  <a:srgbClr val="334155"/>
                </a:solidFill>
              </a:rPr>
              <a:t>Team roles, profiles, certifications, requirements, and contractor readiness.</a:t>
            </a:r>
          </a:p>
        </p:txBody>
      </p:sp>
      <p:sp>
        <p:nvSpPr>
          <p:cNvPr id="5" name="audience-admins-and-supervisors">
            <a:extLst xmlns:a="http://schemas.openxmlformats.org/drawingml/2006/main">
              <a:ext uri="{FF2B5EF4-FFF2-40B4-BE49-F238E27FC236}">
                <a16:creationId xmlns:a16="http://schemas.microsoft.com/office/drawing/2014/main" id="{91FE471B-B663-4272-A874-654E301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47800"/>
            <a:ext cx="7258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Audience: Admins and supervisors</a:t>
            </a:r>
          </a:p>
        </p:txBody>
      </p:sp>
      <p:sp>
        <p:nvSpPr>
          <p:cNvPr id="6" name="module-1">
            <a:extLst xmlns:a="http://schemas.openxmlformats.org/drawingml/2006/main">
              <a:ext uri="{FF2B5EF4-FFF2-40B4-BE49-F238E27FC236}">
                <a16:creationId xmlns:a16="http://schemas.microsoft.com/office/drawing/2014/main" id="{B1DA6E6B-F181-49FB-82BF-750F49E1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002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5309"/>
                </a:solidFill>
              </a:defRPr>
            </a:pPr>
            <a:r>
              <a:rPr sz="2550" b="1">
                <a:solidFill>
                  <a:srgbClr val="B45309"/>
                </a:solidFill>
              </a:rPr>
              <a:t>1. Team</a:t>
            </a:r>
          </a:p>
        </p:txBody>
      </p:sp>
      <p:sp>
        <p:nvSpPr>
          <p:cNvPr id="7" name="module-2">
            <a:extLst xmlns:a="http://schemas.openxmlformats.org/drawingml/2006/main">
              <a:ext uri="{FF2B5EF4-FFF2-40B4-BE49-F238E27FC236}">
                <a16:creationId xmlns:a16="http://schemas.microsoft.com/office/drawing/2014/main" id="{F8CB36F4-B766-4B61-B78F-8874F951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098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2. Roles</a:t>
            </a:r>
          </a:p>
        </p:txBody>
      </p:sp>
      <p:sp>
        <p:nvSpPr>
          <p:cNvPr id="8" name="module-3">
            <a:extLst xmlns:a="http://schemas.openxmlformats.org/drawingml/2006/main">
              <a:ext uri="{FF2B5EF4-FFF2-40B4-BE49-F238E27FC236}">
                <a16:creationId xmlns:a16="http://schemas.microsoft.com/office/drawing/2014/main" id="{4806225C-0FE4-4643-AC64-0E3E24E2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0040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3. Profiles</a:t>
            </a:r>
          </a:p>
        </p:txBody>
      </p:sp>
      <p:sp>
        <p:nvSpPr>
          <p:cNvPr id="9" name="module-4">
            <a:extLst xmlns:a="http://schemas.openxmlformats.org/drawingml/2006/main">
              <a:ext uri="{FF2B5EF4-FFF2-40B4-BE49-F238E27FC236}">
                <a16:creationId xmlns:a16="http://schemas.microsoft.com/office/drawing/2014/main" id="{64AFCE5C-F9E6-4E3D-8EE5-FA4C656B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1000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4. Requirements</a:t>
            </a:r>
          </a:p>
        </p:txBody>
      </p:sp>
      <p:sp>
        <p:nvSpPr>
          <p:cNvPr id="10" name="module-5">
            <a:extLst xmlns:a="http://schemas.openxmlformats.org/drawingml/2006/main">
              <a:ext uri="{FF2B5EF4-FFF2-40B4-BE49-F238E27FC236}">
                <a16:creationId xmlns:a16="http://schemas.microsoft.com/office/drawing/2014/main" id="{AC126125-94E0-4A7A-9B27-F8722864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005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5. Gaps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C6F3F5C-86AF-4441-BD27-795E6543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0"/>
            <a:ext cx="1645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Editable PowerPoint deck | Built for live walkthroughs and onboarding.</a:t>
            </a:r>
          </a:p>
        </p:txBody>
      </p:sp>
    </p:spTree>
    <p:extLst>
      <p:ext uri="{BB962C8B-B14F-4D97-AF65-F5344CB8AC3E}">
        <p14:creationId xmlns:p14="http://schemas.microsoft.com/office/powerpoint/2010/main" val="2587684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at-this-module-teaches">
            <a:extLst xmlns:a="http://schemas.openxmlformats.org/drawingml/2006/main">
              <a:ext uri="{FF2B5EF4-FFF2-40B4-BE49-F238E27FC236}">
                <a16:creationId xmlns:a16="http://schemas.microsoft.com/office/drawing/2014/main" id="{B995A9CA-3CEE-47DF-9CF5-3010C037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What this module teaches</a:t>
            </a:r>
          </a:p>
        </p:txBody>
      </p:sp>
      <p:sp>
        <p:nvSpPr>
          <p:cNvPr id="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89D224A8-EBEE-47BB-B606-AFFEFAB0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6459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Training Tracker And Team Access</a:t>
            </a:r>
          </a:p>
        </p:txBody>
      </p:sp>
      <p:sp>
        <p:nvSpPr>
          <p:cNvPr id="3" name="agenda-rule">
            <a:extLst xmlns:a="http://schemas.openxmlformats.org/drawingml/2006/main">
              <a:ext uri="{FF2B5EF4-FFF2-40B4-BE49-F238E27FC236}">
                <a16:creationId xmlns:a16="http://schemas.microsoft.com/office/drawing/2014/main" id="{7F05D7DD-C4C8-4C1F-8839-649B81E2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6D722382-B344-480F-9F84-B8DA0BA6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45309"/>
                </a:solidFill>
              </a:defRPr>
            </a:pPr>
            <a:r>
              <a:rPr sz="3600" b="1">
                <a:solidFill>
                  <a:srgbClr val="B45309"/>
                </a:solidFill>
              </a:rPr>
              <a:t>01</a:t>
            </a:r>
          </a:p>
        </p:txBody>
      </p:sp>
      <p:sp>
        <p:nvSpPr>
          <p:cNvPr id="5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27426C27-7A87-4265-942D-B28FDD1D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Team</a:t>
            </a:r>
          </a:p>
        </p:txBody>
      </p:sp>
      <p:sp>
        <p:nvSpPr>
          <p:cNvPr id="6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7D7E21F3-12E6-4851-9953-17F5E972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8C547AE8-80E2-43DF-9BB2-264DB749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45309"/>
                </a:solidFill>
              </a:defRPr>
            </a:pPr>
            <a:r>
              <a:rPr sz="3600" b="1">
                <a:solidFill>
                  <a:srgbClr val="B45309"/>
                </a:solidFill>
              </a:rPr>
              <a:t>02</a:t>
            </a:r>
          </a:p>
        </p:txBody>
      </p:sp>
      <p:sp>
        <p:nvSpPr>
          <p:cNvPr id="8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E0393545-1137-42C7-AA55-21C8C841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Roles</a:t>
            </a:r>
          </a:p>
        </p:txBody>
      </p:sp>
      <p:sp>
        <p:nvSpPr>
          <p:cNvPr id="9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0D99595F-2EFC-4EEE-BA0E-A0DA4547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D0A962FA-E563-4855-A779-C77FA115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45309"/>
                </a:solidFill>
              </a:defRPr>
            </a:pPr>
            <a:r>
              <a:rPr sz="3600" b="1">
                <a:solidFill>
                  <a:srgbClr val="B45309"/>
                </a:solidFill>
              </a:rPr>
              <a:t>03</a:t>
            </a:r>
          </a:p>
        </p:txBody>
      </p:sp>
      <p:sp>
        <p:nvSpPr>
          <p:cNvPr id="11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4E80F38D-AF50-4A57-A8B7-1D1A2AC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Profiles</a:t>
            </a:r>
          </a:p>
        </p:txBody>
      </p:sp>
      <p:sp>
        <p:nvSpPr>
          <p:cNvPr id="12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991C8A18-6142-4CCF-A3C0-DCB2A5A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325D0D1F-E438-4CC5-A9F4-6F1D75B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817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45309"/>
                </a:solidFill>
              </a:defRPr>
            </a:pPr>
            <a:r>
              <a:rPr sz="3600" b="1">
                <a:solidFill>
                  <a:srgbClr val="B45309"/>
                </a:solidFill>
              </a:rPr>
              <a:t>04</a:t>
            </a:r>
          </a:p>
        </p:txBody>
      </p:sp>
      <p:sp>
        <p:nvSpPr>
          <p:cNvPr id="14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A8FAF62F-0018-475D-858B-EF881085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Requirements</a:t>
            </a:r>
          </a:p>
        </p:txBody>
      </p:sp>
      <p:sp>
        <p:nvSpPr>
          <p:cNvPr id="15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B1268F60-3003-49EA-B0CF-D1266B3D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819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E8F76DB7-2438-4FD5-845C-B7E3889C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3817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45309"/>
                </a:solidFill>
              </a:defRPr>
            </a:pPr>
            <a:r>
              <a:rPr sz="3600" b="1">
                <a:solidFill>
                  <a:srgbClr val="B45309"/>
                </a:solidFill>
              </a:rPr>
              <a:t>05</a:t>
            </a:r>
          </a:p>
        </p:txBody>
      </p:sp>
      <p:sp>
        <p:nvSpPr>
          <p:cNvPr id="17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5DCAFCFC-BA7A-45D7-BC81-7686A2BF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0485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Gaps</a:t>
            </a:r>
          </a:p>
        </p:txBody>
      </p:sp>
      <p:sp>
        <p:nvSpPr>
          <p:cNvPr id="18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1C4D5CEC-FD21-4982-AFED-9146F484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5819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10816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183B8ACE-542B-491B-A7C6-3AC8328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Access setup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65E88C91-AA06-4589-B7AF-531D225E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Team access controls who can do what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CD3A973D-4806-42FF-A585-C23CED5B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36BE5FDC-7CC9-4ED2-B8C5-51984E7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1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CC101DA5-E0B2-4E3B-8752-3D9D40B3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696B1DD5-31E0-43C2-8529-FF11184A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Team &amp; Access to manage invitations, roles, and permissions.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C14DA903-C88E-49B6-B53B-5C903685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272BC8E8-13B3-4DFD-B1CA-54AEFB82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Assign the least powerful role that still supports the user's work.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88A4EF49-121B-4B63-B394-9608FD42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1CBD1D83-78AB-4FE5-BAF3-A7C3031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Keep inactive or outdated users out of operational workflows.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C858E98F-BE54-4675-BF78-B461D5A0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0965962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549687FA-0540-4090-B254-D0483D8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Worker context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39E4D9B2-D99A-4B8F-873F-63EDDF81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Profiles turn people into readiness records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2F9EF03D-B416-410A-93EA-1F12ECF8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F152927F-FA06-4DF2-A070-6FA8A0F4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2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801C1E96-74F7-42B4-9905-5F81046D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6EFA788A-3079-4351-ACEF-EC45066E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Trade, position, readiness, and certifications create useful matching.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F06E88F1-DD47-4C1F-9D88-B98F786F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1069D418-D27F-47CD-BCD3-3EBA20EB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Expiration dates help supervisors find urgent training gaps.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288BBCCF-E526-4D9D-BE48-65D4D9B3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1C607A9D-4C91-4B23-9A3C-27B6C758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Managed profile edits help admins clean up incomplete team records.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05BE07C9-E891-4481-ADDB-D1666248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511528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6ECFB157-19ED-4A64-92F5-D56AC488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Training matrix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6B42CF26-7C31-4BFA-8575-914E3E60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The training tracker shows readiness gaps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C69F3F31-A8F3-489F-A72E-27FB125F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D719755C-14DB-4A82-87FF-D393237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3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F1A9756C-F213-4944-A546-677FD8FA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C27BA862-AD55-497C-909B-C07EB629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Requirements define what applies by role, trade, task, or project need.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C98D8ACB-1A95-48EE-9343-19707B8F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82D4691A-6AD1-402C-83A6-8BAE6CD7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Matrix cells show matches, gaps, and non-applicable requirements.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0388E36A-A027-4BD6-BBCB-752697BB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E99B8E74-8F00-4600-A28B-AB5F20B4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Contractor compliance extends the same readiness thinking externally.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9C7E8E78-0735-4A79-8655-2FC6FF86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3467015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out-checklist">
            <a:extLst xmlns:a="http://schemas.openxmlformats.org/drawingml/2006/main">
              <a:ext uri="{FF2B5EF4-FFF2-40B4-BE49-F238E27FC236}">
                <a16:creationId xmlns:a16="http://schemas.microsoft.com/office/drawing/2014/main" id="{B8FAEAFA-2634-40B8-938B-151C14EB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Closeout checklist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521BD71-44A2-41A6-85A4-7C5867CA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64592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172A"/>
                </a:solidFill>
              </a:defRPr>
            </a:pPr>
            <a:r>
              <a:rPr sz="5100" b="1">
                <a:solidFill>
                  <a:srgbClr val="0F172A"/>
                </a:solidFill>
              </a:rPr>
              <a:t>Before the team leaves the training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F482C322-207A-4C28-968B-2352BCAF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E2EEE8DA-6381-4786-9C56-FF8DF691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5" name="bullet-copy">
            <a:extLst xmlns:a="http://schemas.openxmlformats.org/drawingml/2006/main">
              <a:ext uri="{FF2B5EF4-FFF2-40B4-BE49-F238E27FC236}">
                <a16:creationId xmlns:a16="http://schemas.microsoft.com/office/drawing/2014/main" id="{A12677EA-0C68-4167-AE34-00E7539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Set roles before inviting broad groups.</a:t>
            </a:r>
          </a:p>
        </p:txBody>
      </p:sp>
      <p:sp>
        <p:nvSpPr>
          <p:cNvPr id="6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D920D487-33B0-45FF-BB25-BEE38563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7" name="bullet-copy">
            <a:extLst xmlns:a="http://schemas.openxmlformats.org/drawingml/2006/main">
              <a:ext uri="{FF2B5EF4-FFF2-40B4-BE49-F238E27FC236}">
                <a16:creationId xmlns:a16="http://schemas.microsoft.com/office/drawing/2014/main" id="{67649448-413E-4F46-A4B0-15A2748D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Update certification expirations during onboarding.</a:t>
            </a:r>
          </a:p>
        </p:txBody>
      </p:sp>
      <p:sp>
        <p:nvSpPr>
          <p:cNvPr id="8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94E4A2CD-8C76-4909-9EFB-0A5CE23E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-&gt;</a:t>
            </a:r>
          </a:p>
        </p:txBody>
      </p:sp>
      <p:sp>
        <p:nvSpPr>
          <p:cNvPr id="9" name="bullet-copy">
            <a:extLst xmlns:a="http://schemas.openxmlformats.org/drawingml/2006/main">
              <a:ext uri="{FF2B5EF4-FFF2-40B4-BE49-F238E27FC236}">
                <a16:creationId xmlns:a16="http://schemas.microsoft.com/office/drawing/2014/main" id="{83F9D9EC-3C79-4023-B172-C717C63C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862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Review gaps before assigning high-risk work.</a:t>
            </a:r>
          </a:p>
        </p:txBody>
      </p:sp>
      <p:sp>
        <p:nvSpPr>
          <p:cNvPr id="10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312E79FF-FB67-482D-B595-6A060F54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2382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34155"/>
                </a:solidFill>
              </a:defRPr>
            </a:pPr>
            <a:r>
              <a:rPr sz="2400" b="1">
                <a:solidFill>
                  <a:srgbClr val="334155"/>
                </a:solidFill>
              </a:rPr>
              <a:t>Next step: open Safety360Docs, repeat the workflow, and assign one owner for any cleanup found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1916089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2026-05-01T15:28:47.8890000Z</dcterms:created>
  <dcterms:modified xsi:type="dcterms:W3CDTF">2026-05-01T15:28:47.8890000Z</dcterms:modified>
</coreProperties>
</file>
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image" Target="../media/image-13-10.png"/><Relationship Id="rId11" Type="http://schemas.openxmlformats.org/officeDocument/2006/relationships/image" Target="../media/image-13-11.png"/><Relationship Id="rId12" Type="http://schemas.openxmlformats.org/officeDocument/2006/relationships/image" Target="../media/image-13-12.png"/><Relationship Id="rId13" Type="http://schemas.openxmlformats.org/officeDocument/2006/relationships/image" Target="../media/image-13-13.png"/><Relationship Id="rId14" Type="http://schemas.openxmlformats.org/officeDocument/2006/relationships/image" Target="../media/image-13-14.png"/><Relationship Id="rId15" Type="http://schemas.openxmlformats.org/officeDocument/2006/relationships/image" Target="../media/image-13-15.png"/><Relationship Id="rId16" Type="http://schemas.openxmlformats.org/officeDocument/2006/relationships/image" Target="../media/image-13-16.png"/><Relationship Id="rId17" Type="http://schemas.openxmlformats.org/officeDocument/2006/relationships/image" Target="../media/image-13-17.png"/><Relationship Id="rId18" Type="http://schemas.openxmlformats.org/officeDocument/2006/relationships/image" Target="../media/image-13-18.png"/><Relationship Id="rId19" Type="http://schemas.openxmlformats.org/officeDocument/2006/relationships/image" Target="../media/image-13-19.png"/><Relationship Id="rId20" Type="http://schemas.openxmlformats.org/officeDocument/2006/relationships/image" Target="../media/image-13-20.png"/><Relationship Id="rId21" Type="http://schemas.openxmlformats.org/officeDocument/2006/relationships/image" Target="../media/image-13-21.png"/><Relationship Id="rId22" Type="http://schemas.openxmlformats.org/officeDocument/2006/relationships/image" Target="../media/image-13-22.png"/><Relationship Id="rId23" Type="http://schemas.openxmlformats.org/officeDocument/2006/relationships/image" Target="../media/image-13-23.png"/><Relationship Id="rId24" Type="http://schemas.openxmlformats.org/officeDocument/2006/relationships/image" Target="../media/image-13-24.png"/><Relationship Id="rId25" Type="http://schemas.openxmlformats.org/officeDocument/2006/relationships/slideLayout" Target="../slideLayouts/slideLayout1.xml"/><Relationship Id="rId2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732520" y="1051560"/>
            <a:ext cx="3108960" cy="310896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4" name="Image 1" descr="/sessions/beautiful-sleepy-franklin/mnt/outputs/deckbuild/asset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66928"/>
            <a:ext cx="1371600" cy="1371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40080" y="2286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9FB8D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SAFETY360DOCS</a:t>
            </a:r>
            <a:endParaRPr lang="en-US" sz="1700" dirty="0"/>
          </a:p>
        </p:txBody>
      </p:sp>
      <p:sp>
        <p:nvSpPr>
          <p:cNvPr id="6" name="Text 2"/>
          <p:cNvSpPr/>
          <p:nvPr/>
        </p:nvSpPr>
        <p:spPr>
          <a:xfrm>
            <a:off x="640080" y="2697480"/>
            <a:ext cx="10607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platform, in action</a:t>
            </a:r>
            <a:endParaRPr lang="en-US" sz="4600" dirty="0"/>
          </a:p>
        </p:txBody>
      </p:sp>
      <p:sp>
        <p:nvSpPr>
          <p:cNvPr id="7" name="Text 3"/>
          <p:cNvSpPr/>
          <p:nvPr/>
        </p:nvSpPr>
        <p:spPr>
          <a:xfrm>
            <a:off x="640080" y="3840480"/>
            <a:ext cx="9692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guided tour of the real product — live dashboards, field workflows, compliance, and the AI engine that forecasts injury risk before it happens.</a:t>
            </a:r>
            <a:endParaRPr lang="en-US" sz="1600" dirty="0"/>
          </a:p>
        </p:txBody>
      </p:sp>
      <p:sp>
        <p:nvSpPr>
          <p:cNvPr id="8" name="Shape 4"/>
          <p:cNvSpPr/>
          <p:nvPr/>
        </p:nvSpPr>
        <p:spPr>
          <a:xfrm>
            <a:off x="640080" y="5166360"/>
            <a:ext cx="10881360" cy="0"/>
          </a:xfrm>
          <a:prstGeom prst="line">
            <a:avLst/>
          </a:prstGeom>
          <a:noFill/>
          <a:ln w="12700">
            <a:solidFill>
              <a:srgbClr val="2C4A6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40080" y="5349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Sladky, CSP</a:t>
            </a:r>
            <a:pPr indent="0" marL="0">
              <a:buNone/>
            </a:pPr>
            <a:r>
              <a:rPr lang="en-US" sz="1300" dirty="0">
                <a:solidFill>
                  <a:srgbClr val="8FA6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Reliance EHS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6979615" y="53492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1F9D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screenshots · Universal overview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COMMAND CENTER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whole operation, one live view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Risk, open work, and AI recommendations in a single command center — no more hunting across binders and inboxes.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risk score &amp; top hazards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 issues, permits &amp; JSAs at a glance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recommendations for your company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728739"/>
            <a:ext cx="6668719" cy="381200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dash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01891"/>
            <a:ext cx="6522415" cy="366569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417843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417843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3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&amp; PLAN BUILDERS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safety plans with a guided workflow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JSAs, CSEP/SSP, and safety programs — no blank-page guesswork, no inconsistent formatting.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Step-by-step guided builders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One library, always current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Export review-ready documents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656057"/>
            <a:ext cx="6668719" cy="395736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builde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29209"/>
            <a:ext cx="6522415" cy="381106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345161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345161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OBSERVATIONS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Capture hazards before they become incidents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 observations with severity, SIF potential, owner, due date, and photo proof — straight from the field.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 capture on any device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SIF-potential flagged separately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Closure tracked to verification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782460"/>
            <a:ext cx="6668719" cy="370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observation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55612"/>
            <a:ext cx="6522415" cy="35582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47156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4715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77F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ISSUE LOG &amp; CORRECTIVE ACTIONS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Know what needs attention now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Priority signals and a correction-action hub keep the highest-risk work from getting buried in the backlog.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Risk-ranked work queue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Overdue &amp; due-today visibility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Corrective actions driven to closure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782460"/>
            <a:ext cx="6668719" cy="370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issuelo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55612"/>
            <a:ext cx="6522415" cy="35582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47156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4715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 &amp; TRENDS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See where exposure is building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Trends, SIF counts, and heatmaps show what's increasing and where risk is clustering — so leaders focus early.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Trending hazards by category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Severity × priority heatmap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Leadership snapshot &amp; ratios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782460"/>
            <a:ext cx="6668719" cy="370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trend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855612"/>
            <a:ext cx="6522415" cy="355825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47156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47156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C77F12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C77F1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 &amp; AUDITS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Field audits that simplify compliance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structured, OSHA-aligned audits and submit review-ready records from one connected workflow.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Category-based guided audits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Findings become corrective actions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review summary on every audit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656057"/>
            <a:ext cx="6668719" cy="3957366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audi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729209"/>
            <a:ext cx="6522415" cy="3811062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345161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345161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READINESS MATRIX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 readiness — don't just store certificates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who's ready, who's missing training, and what expires before work starts, across every trade and crew.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Role &amp; trade scope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Credential &amp; expiration tracking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Actionable readiness status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2521320"/>
            <a:ext cx="6668719" cy="2226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matrix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2594472"/>
            <a:ext cx="6522415" cy="2080536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2210424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221042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alphaModFix amt="12000"/>
          </a:blip>
          <a:stretch>
            <a:fillRect/>
          </a:stretch>
        </p:blipFill>
        <p:spPr>
          <a:xfrm>
            <a:off x="8869680" y="1097280"/>
            <a:ext cx="3017520" cy="30175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148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AI ENGINE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5603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data to a forecast —</a:t>
            </a:r>
            <a:endParaRPr lang="en-US" sz="38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and a plan to prevent it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640080" y="429768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data your crews log every day becomes an evidence-backed prediction of what's most likely to hurt your team — with the actions to stop it.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 PREDICT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Predict risk before it happens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risk scores rank the locations and hazards most likely to cause injury — built only from your data.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High-risk locations &amp; predicted incidents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Top risk drivers, ranked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Model confidence on every forecast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614248"/>
            <a:ext cx="6668719" cy="4040984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predic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687400"/>
            <a:ext cx="6522415" cy="3894680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30335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3033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841248"/>
            <a:ext cx="201168" cy="20116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4" name="Text 2"/>
          <p:cNvSpPr/>
          <p:nvPr/>
        </p:nvSpPr>
        <p:spPr>
          <a:xfrm>
            <a:off x="950976" y="804672"/>
            <a:ext cx="4160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· PREVENT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640080" y="1234440"/>
            <a:ext cx="4160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98000"/>
              </a:lnSpc>
              <a:buNone/>
            </a:pPr>
            <a:r>
              <a:rPr lang="en-US" sz="27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Turn predictions into focused action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forecast comes with priority themes, training, and controls to implement now — so you prevent, not just react.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3886200"/>
            <a:ext cx="457200" cy="457200"/>
          </a:xfrm>
          <a:prstGeom prst="ellipse">
            <a:avLst/>
          </a:prstGeom>
          <a:solidFill>
            <a:srgbClr val="C0392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4005072"/>
            <a:ext cx="219456" cy="219456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61872" y="3831336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Likely injury exposure &amp; 30-day likelihood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40080" y="4654296"/>
            <a:ext cx="457200" cy="457200"/>
          </a:xfrm>
          <a:prstGeom prst="ellipse">
            <a:avLst/>
          </a:prstGeom>
          <a:solidFill>
            <a:srgbClr val="C77F12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" y="4773168"/>
            <a:ext cx="219456" cy="21945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61872" y="4599432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Priority themes for leadership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640080" y="5422392"/>
            <a:ext cx="457200" cy="45720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952" y="5541264"/>
            <a:ext cx="219456" cy="21945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61872" y="5367528"/>
            <a:ext cx="3538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Recommended controls &amp; training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4956048" y="1879638"/>
            <a:ext cx="6668719" cy="3510205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pic>
        <p:nvPicPr>
          <p:cNvPr id="17" name="Image 3" descr="/sessions/beautiful-sleepy-franklin/mnt/outputs/deckbuild/assets/shots/forecas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0" y="1952790"/>
            <a:ext cx="6522415" cy="336390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5010912" y="1568742"/>
            <a:ext cx="1554480" cy="310896"/>
          </a:xfrm>
          <a:prstGeom prst="roundRect">
            <a:avLst>
              <a:gd name="adj" fmla="val 50000"/>
            </a:avLst>
          </a:prstGeom>
          <a:solidFill>
            <a:srgbClr val="13304F"/>
          </a:solidFill>
          <a:ln/>
        </p:spPr>
      </p:sp>
      <p:sp>
        <p:nvSpPr>
          <p:cNvPr id="19" name="Text 13"/>
          <p:cNvSpPr/>
          <p:nvPr/>
        </p:nvSpPr>
        <p:spPr>
          <a:xfrm>
            <a:off x="5010912" y="156874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PRODUCT</a:t>
            </a:r>
            <a:endParaRPr lang="en-US" sz="900" dirty="0"/>
          </a:p>
        </p:txBody>
      </p:sp>
      <p:sp>
        <p:nvSpPr>
          <p:cNvPr id="20" name="Text 14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BUSINESS IMPACT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Save time, cut admin cost, and lower risk before incidents happen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 replaces scattered manual work with one connected workflow for documents, observations, audits, readiness, and predictive visibility.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7744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77440"/>
            <a:ext cx="3454298" cy="109728"/>
          </a:xfrm>
          <a:prstGeom prst="rect">
            <a:avLst/>
          </a:prstGeom>
          <a:solidFill>
            <a:srgbClr val="0E7C8B"/>
          </a:solidFill>
          <a:ln/>
        </p:spPr>
      </p:sp>
      <p:sp>
        <p:nvSpPr>
          <p:cNvPr id="7" name="Shape 5"/>
          <p:cNvSpPr/>
          <p:nvPr/>
        </p:nvSpPr>
        <p:spPr>
          <a:xfrm>
            <a:off x="1864309" y="2788920"/>
            <a:ext cx="1005840" cy="1005840"/>
          </a:xfrm>
          <a:prstGeom prst="ellipse">
            <a:avLst/>
          </a:prstGeom>
          <a:solidFill>
            <a:srgbClr val="0E7C8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25828" y="3050438"/>
            <a:ext cx="482803" cy="482803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40080" y="39776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Time saved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960120" y="4434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repetitive admin across documents, audits, follow-up, and readiness so your team focuses on the work that matters.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368698" y="237744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368698" y="2377440"/>
            <a:ext cx="3454298" cy="109728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13" name="Shape 10"/>
          <p:cNvSpPr/>
          <p:nvPr/>
        </p:nvSpPr>
        <p:spPr>
          <a:xfrm>
            <a:off x="5592928" y="2788920"/>
            <a:ext cx="1005840" cy="1005840"/>
          </a:xfrm>
          <a:prstGeom prst="ellipse">
            <a:avLst/>
          </a:prstGeom>
          <a:solidFill>
            <a:srgbClr val="13304F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54446" y="3050438"/>
            <a:ext cx="482803" cy="482803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368698" y="39776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saved</a:t>
            </a:r>
            <a:endParaRPr lang="en-US" sz="1900" dirty="0"/>
          </a:p>
        </p:txBody>
      </p:sp>
      <p:sp>
        <p:nvSpPr>
          <p:cNvPr id="16" name="Text 12"/>
          <p:cNvSpPr/>
          <p:nvPr/>
        </p:nvSpPr>
        <p:spPr>
          <a:xfrm>
            <a:off x="4688738" y="4434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labor and admin burden, reduce inefficiencies, and scale with confidence — without adding headcount.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8097317" y="2377440"/>
            <a:ext cx="3454298" cy="2743200"/>
          </a:xfrm>
          <a:prstGeom prst="rect">
            <a:avLst/>
          </a:prstGeom>
          <a:solidFill>
            <a:srgbClr val="F4F7FB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097317" y="2377440"/>
            <a:ext cx="3454298" cy="109728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19" name="Shape 15"/>
          <p:cNvSpPr/>
          <p:nvPr/>
        </p:nvSpPr>
        <p:spPr>
          <a:xfrm>
            <a:off x="9321546" y="2788920"/>
            <a:ext cx="1005840" cy="100584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83064" y="3050438"/>
            <a:ext cx="482803" cy="48280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8097317" y="3977640"/>
            <a:ext cx="345429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reduction</a:t>
            </a:r>
            <a:endParaRPr lang="en-US" sz="1900" dirty="0"/>
          </a:p>
        </p:txBody>
      </p:sp>
      <p:sp>
        <p:nvSpPr>
          <p:cNvPr id="22" name="Text 17"/>
          <p:cNvSpPr/>
          <p:nvPr/>
        </p:nvSpPr>
        <p:spPr>
          <a:xfrm>
            <a:off x="8417357" y="4434840"/>
            <a:ext cx="281421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signals, earlier warnings, and preventive actions help teams act before incidents, not after.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24" name="Shape 19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25" name="Text 20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predictive tools and preventive measures to reduce risk while saving time across your operation.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27" name="Text 22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00" kern="0" dirty="0">
                <a:solidFill>
                  <a:srgbClr val="0E7C8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PLATFORM TIERS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640080" y="749808"/>
            <a:ext cx="109115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3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Flexible tiers designed to grow with your operation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424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the core tools your team needs, then expand into compliance, document workflows, and predictive insights as your program matures.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640080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240280"/>
            <a:ext cx="2590724" cy="640080"/>
          </a:xfrm>
          <a:prstGeom prst="rect">
            <a:avLst/>
          </a:prstGeom>
          <a:solidFill>
            <a:srgbClr val="1F9D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248" y="2414016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07008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Essentials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841248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the basics organized</a:t>
            </a:r>
            <a:endParaRPr lang="en-US" sz="105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3493008"/>
            <a:ext cx="146304" cy="14630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051560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JSAs &amp; permits</a:t>
            </a:r>
            <a:endParaRPr lang="en-US" sz="10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3877056"/>
            <a:ext cx="146304" cy="1463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51560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 observations</a:t>
            </a:r>
            <a:endParaRPr lang="en-US" sz="1050" dirty="0"/>
          </a:p>
        </p:txBody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4261104"/>
            <a:ext cx="146304" cy="146304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051560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Audits &amp; inspections</a:t>
            </a:r>
            <a:endParaRPr lang="en-US" sz="10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1248" y="4645152"/>
            <a:ext cx="146304" cy="146304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051560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Incident reporting</a:t>
            </a:r>
            <a:endParaRPr lang="en-US" sz="1050" dirty="0"/>
          </a:p>
        </p:txBody>
      </p:sp>
      <p:pic>
        <p:nvPicPr>
          <p:cNvPr id="1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248" y="5029200"/>
            <a:ext cx="146304" cy="146304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051560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dashboards</a:t>
            </a:r>
            <a:endParaRPr lang="en-US" sz="1050" dirty="0"/>
          </a:p>
        </p:txBody>
      </p:sp>
      <p:sp>
        <p:nvSpPr>
          <p:cNvPr id="20" name="Shape 12"/>
          <p:cNvSpPr/>
          <p:nvPr/>
        </p:nvSpPr>
        <p:spPr>
          <a:xfrm>
            <a:off x="3413684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21" name="Shape 13"/>
          <p:cNvSpPr/>
          <p:nvPr/>
        </p:nvSpPr>
        <p:spPr>
          <a:xfrm>
            <a:off x="3413684" y="2240280"/>
            <a:ext cx="2590724" cy="640080"/>
          </a:xfrm>
          <a:prstGeom prst="rect">
            <a:avLst/>
          </a:prstGeom>
          <a:solidFill>
            <a:srgbClr val="0E7C8B"/>
          </a:solidFill>
          <a:ln/>
        </p:spPr>
      </p:sp>
      <p:pic>
        <p:nvPicPr>
          <p:cNvPr id="22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14852" y="2414016"/>
            <a:ext cx="292608" cy="292608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3980612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Professional</a:t>
            </a:r>
            <a:endParaRPr lang="en-US" sz="1550" dirty="0"/>
          </a:p>
        </p:txBody>
      </p:sp>
      <p:sp>
        <p:nvSpPr>
          <p:cNvPr id="24" name="Text 15"/>
          <p:cNvSpPr/>
          <p:nvPr/>
        </p:nvSpPr>
        <p:spPr>
          <a:xfrm>
            <a:off x="3614852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compliance visibility</a:t>
            </a:r>
            <a:endParaRPr lang="en-US" sz="105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614852" y="3493008"/>
            <a:ext cx="146304" cy="146304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3825164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Essentials</a:t>
            </a:r>
            <a:endParaRPr lang="en-US" sz="105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14852" y="3877056"/>
            <a:ext cx="146304" cy="146304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3825164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 matrix</a:t>
            </a:r>
            <a:endParaRPr lang="en-US" sz="1050" dirty="0"/>
          </a:p>
        </p:txBody>
      </p:sp>
      <p:pic>
        <p:nvPicPr>
          <p:cNvPr id="29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614852" y="4261104"/>
            <a:ext cx="146304" cy="146304"/>
          </a:xfrm>
          <a:prstGeom prst="rect">
            <a:avLst/>
          </a:prstGeom>
        </p:spPr>
      </p:pic>
      <p:sp>
        <p:nvSpPr>
          <p:cNvPr id="30" name="Text 18"/>
          <p:cNvSpPr/>
          <p:nvPr/>
        </p:nvSpPr>
        <p:spPr>
          <a:xfrm>
            <a:off x="3825164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 &amp; training tracking</a:t>
            </a:r>
            <a:endParaRPr lang="en-US" sz="1050" dirty="0"/>
          </a:p>
        </p:txBody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614852" y="4645152"/>
            <a:ext cx="146304" cy="146304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3825164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 workflows</a:t>
            </a:r>
            <a:endParaRPr lang="en-US" sz="1050" dirty="0"/>
          </a:p>
        </p:txBody>
      </p:sp>
      <p:pic>
        <p:nvPicPr>
          <p:cNvPr id="3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614852" y="5029200"/>
            <a:ext cx="146304" cy="146304"/>
          </a:xfrm>
          <a:prstGeom prst="rect">
            <a:avLst/>
          </a:prstGeom>
        </p:spPr>
      </p:pic>
      <p:sp>
        <p:nvSpPr>
          <p:cNvPr id="34" name="Text 20"/>
          <p:cNvSpPr/>
          <p:nvPr/>
        </p:nvSpPr>
        <p:spPr>
          <a:xfrm>
            <a:off x="3825164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visibility</a:t>
            </a:r>
            <a:endParaRPr lang="en-US" sz="1050" dirty="0"/>
          </a:p>
        </p:txBody>
      </p:sp>
      <p:sp>
        <p:nvSpPr>
          <p:cNvPr id="35" name="Shape 21"/>
          <p:cNvSpPr/>
          <p:nvPr/>
        </p:nvSpPr>
        <p:spPr>
          <a:xfrm>
            <a:off x="6187288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36" name="Shape 22"/>
          <p:cNvSpPr/>
          <p:nvPr/>
        </p:nvSpPr>
        <p:spPr>
          <a:xfrm>
            <a:off x="6187288" y="2240280"/>
            <a:ext cx="2590724" cy="640080"/>
          </a:xfrm>
          <a:prstGeom prst="rect">
            <a:avLst/>
          </a:prstGeom>
          <a:solidFill>
            <a:srgbClr val="13304F"/>
          </a:solidFill>
          <a:ln/>
        </p:spPr>
      </p:sp>
      <p:pic>
        <p:nvPicPr>
          <p:cNvPr id="37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388456" y="2414016"/>
            <a:ext cx="292608" cy="292608"/>
          </a:xfrm>
          <a:prstGeom prst="rect">
            <a:avLst/>
          </a:prstGeom>
        </p:spPr>
      </p:pic>
      <p:sp>
        <p:nvSpPr>
          <p:cNvPr id="38" name="Text 23"/>
          <p:cNvSpPr/>
          <p:nvPr/>
        </p:nvSpPr>
        <p:spPr>
          <a:xfrm>
            <a:off x="6754216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Advanced</a:t>
            </a:r>
            <a:endParaRPr lang="en-US" sz="1550" dirty="0"/>
          </a:p>
        </p:txBody>
      </p:sp>
      <p:sp>
        <p:nvSpPr>
          <p:cNvPr id="39" name="Text 24"/>
          <p:cNvSpPr/>
          <p:nvPr/>
        </p:nvSpPr>
        <p:spPr>
          <a:xfrm>
            <a:off x="6388456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Document-heavy operations</a:t>
            </a:r>
            <a:endParaRPr lang="en-US" sz="1050" dirty="0"/>
          </a:p>
        </p:txBody>
      </p:sp>
      <p:pic>
        <p:nvPicPr>
          <p:cNvPr id="40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388456" y="3493008"/>
            <a:ext cx="146304" cy="146304"/>
          </a:xfrm>
          <a:prstGeom prst="rect">
            <a:avLst/>
          </a:prstGeom>
        </p:spPr>
      </p:pic>
      <p:sp>
        <p:nvSpPr>
          <p:cNvPr id="41" name="Text 25"/>
          <p:cNvSpPr/>
          <p:nvPr/>
        </p:nvSpPr>
        <p:spPr>
          <a:xfrm>
            <a:off x="6598768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Professional</a:t>
            </a:r>
            <a:endParaRPr lang="en-US" sz="1050" dirty="0"/>
          </a:p>
        </p:txBody>
      </p:sp>
      <p:pic>
        <p:nvPicPr>
          <p:cNvPr id="42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388456" y="3877056"/>
            <a:ext cx="146304" cy="146304"/>
          </a:xfrm>
          <a:prstGeom prst="rect">
            <a:avLst/>
          </a:prstGeom>
        </p:spPr>
      </p:pic>
      <p:sp>
        <p:nvSpPr>
          <p:cNvPr id="43" name="Text 26"/>
          <p:cNvSpPr/>
          <p:nvPr/>
        </p:nvSpPr>
        <p:spPr>
          <a:xfrm>
            <a:off x="6598768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document builders</a:t>
            </a:r>
            <a:endParaRPr lang="en-US" sz="1050" dirty="0"/>
          </a:p>
        </p:txBody>
      </p:sp>
      <p:pic>
        <p:nvPicPr>
          <p:cNvPr id="44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388456" y="4261104"/>
            <a:ext cx="146304" cy="146304"/>
          </a:xfrm>
          <a:prstGeom prst="rect">
            <a:avLst/>
          </a:prstGeom>
        </p:spPr>
      </p:pic>
      <p:sp>
        <p:nvSpPr>
          <p:cNvPr id="45" name="Text 27"/>
          <p:cNvSpPr/>
          <p:nvPr/>
        </p:nvSpPr>
        <p:spPr>
          <a:xfrm>
            <a:off x="6598768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CSEP / SSP workflows</a:t>
            </a:r>
            <a:endParaRPr lang="en-US" sz="1050" dirty="0"/>
          </a:p>
        </p:txBody>
      </p:sp>
      <p:pic>
        <p:nvPicPr>
          <p:cNvPr id="46" name="Image 16" descr="preencoded.png">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388456" y="4645152"/>
            <a:ext cx="146304" cy="146304"/>
          </a:xfrm>
          <a:prstGeom prst="rect">
            <a:avLst/>
          </a:prstGeom>
        </p:spPr>
      </p:pic>
      <p:sp>
        <p:nvSpPr>
          <p:cNvPr id="47" name="Text 28"/>
          <p:cNvSpPr/>
          <p:nvPr/>
        </p:nvSpPr>
        <p:spPr>
          <a:xfrm>
            <a:off x="6598768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exports</a:t>
            </a:r>
            <a:endParaRPr lang="en-US" sz="1050" dirty="0"/>
          </a:p>
        </p:txBody>
      </p:sp>
      <p:pic>
        <p:nvPicPr>
          <p:cNvPr id="48" name="Image 17" descr="preencoded.png">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388456" y="5029200"/>
            <a:ext cx="146304" cy="146304"/>
          </a:xfrm>
          <a:prstGeom prst="rect">
            <a:avLst/>
          </a:prstGeom>
        </p:spPr>
      </p:pic>
      <p:sp>
        <p:nvSpPr>
          <p:cNvPr id="49" name="Text 29"/>
          <p:cNvSpPr/>
          <p:nvPr/>
        </p:nvSpPr>
        <p:spPr>
          <a:xfrm>
            <a:off x="6598768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review queue</a:t>
            </a:r>
            <a:endParaRPr lang="en-US" sz="1050" dirty="0"/>
          </a:p>
        </p:txBody>
      </p:sp>
      <p:sp>
        <p:nvSpPr>
          <p:cNvPr id="50" name="Shape 30"/>
          <p:cNvSpPr/>
          <p:nvPr/>
        </p:nvSpPr>
        <p:spPr>
          <a:xfrm>
            <a:off x="8960891" y="2240280"/>
            <a:ext cx="2590724" cy="3154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6F0"/>
            </a:solidFill>
            <a:prstDash val="solid"/>
          </a:ln>
          <a:effectLst>
            <a:outerShdw sx="100000" sy="100000" kx="0" ky="0" algn="bl" rotWithShape="0" blurRad="76200" dist="25400" dir="5400000">
              <a:srgbClr val="1B2A3A">
                <a:alpha val="10000"/>
              </a:srgbClr>
            </a:outerShdw>
          </a:effectLst>
        </p:spPr>
      </p:sp>
      <p:sp>
        <p:nvSpPr>
          <p:cNvPr id="51" name="Shape 31"/>
          <p:cNvSpPr/>
          <p:nvPr/>
        </p:nvSpPr>
        <p:spPr>
          <a:xfrm>
            <a:off x="8960891" y="2240280"/>
            <a:ext cx="2590724" cy="640080"/>
          </a:xfrm>
          <a:prstGeom prst="rect">
            <a:avLst/>
          </a:prstGeom>
          <a:solidFill>
            <a:srgbClr val="C77F12"/>
          </a:solidFill>
          <a:ln/>
        </p:spPr>
      </p:sp>
      <p:pic>
        <p:nvPicPr>
          <p:cNvPr id="52" name="Image 18" descr="preencoded.png">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9162059" y="2414016"/>
            <a:ext cx="292608" cy="292608"/>
          </a:xfrm>
          <a:prstGeom prst="rect">
            <a:avLst/>
          </a:prstGeom>
        </p:spPr>
      </p:pic>
      <p:sp>
        <p:nvSpPr>
          <p:cNvPr id="53" name="Text 32"/>
          <p:cNvSpPr/>
          <p:nvPr/>
        </p:nvSpPr>
        <p:spPr>
          <a:xfrm>
            <a:off x="9527819" y="2240280"/>
            <a:ext cx="19506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Enterprise</a:t>
            </a:r>
            <a:endParaRPr lang="en-US" sz="1550" dirty="0"/>
          </a:p>
        </p:txBody>
      </p:sp>
      <p:sp>
        <p:nvSpPr>
          <p:cNvPr id="54" name="Text 33"/>
          <p:cNvSpPr/>
          <p:nvPr/>
        </p:nvSpPr>
        <p:spPr>
          <a:xfrm>
            <a:off x="9162059" y="2953512"/>
            <a:ext cx="22249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Multi-site scale &amp; AI insights</a:t>
            </a:r>
            <a:endParaRPr lang="en-US" sz="1050" dirty="0"/>
          </a:p>
        </p:txBody>
      </p:sp>
      <p:pic>
        <p:nvPicPr>
          <p:cNvPr id="55" name="Image 19" descr="preencoded.png">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9162059" y="3493008"/>
            <a:ext cx="146304" cy="146304"/>
          </a:xfrm>
          <a:prstGeom prst="rect">
            <a:avLst/>
          </a:prstGeom>
        </p:spPr>
      </p:pic>
      <p:sp>
        <p:nvSpPr>
          <p:cNvPr id="56" name="Text 34"/>
          <p:cNvSpPr/>
          <p:nvPr/>
        </p:nvSpPr>
        <p:spPr>
          <a:xfrm>
            <a:off x="9372371" y="3438144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in Advanced</a:t>
            </a:r>
            <a:endParaRPr lang="en-US" sz="1050" dirty="0"/>
          </a:p>
        </p:txBody>
      </p:sp>
      <p:pic>
        <p:nvPicPr>
          <p:cNvPr id="57" name="Image 20" descr="preencoded.png">    </p:cNvPr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9162059" y="3877056"/>
            <a:ext cx="146304" cy="146304"/>
          </a:xfrm>
          <a:prstGeom prst="rect">
            <a:avLst/>
          </a:prstGeom>
        </p:spPr>
      </p:pic>
      <p:sp>
        <p:nvSpPr>
          <p:cNvPr id="58" name="Text 35"/>
          <p:cNvSpPr/>
          <p:nvPr/>
        </p:nvSpPr>
        <p:spPr>
          <a:xfrm>
            <a:off x="9372371" y="3822192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injury-forecast model</a:t>
            </a:r>
            <a:endParaRPr lang="en-US" sz="1050" dirty="0"/>
          </a:p>
        </p:txBody>
      </p:sp>
      <p:pic>
        <p:nvPicPr>
          <p:cNvPr id="59" name="Image 21" descr="preencoded.png">    </p:cNvPr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9162059" y="4261104"/>
            <a:ext cx="146304" cy="146304"/>
          </a:xfrm>
          <a:prstGeom prst="rect">
            <a:avLst/>
          </a:prstGeom>
        </p:spPr>
      </p:pic>
      <p:sp>
        <p:nvSpPr>
          <p:cNvPr id="60" name="Text 36"/>
          <p:cNvSpPr/>
          <p:nvPr/>
        </p:nvSpPr>
        <p:spPr>
          <a:xfrm>
            <a:off x="9372371" y="4206240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analytics</a:t>
            </a:r>
            <a:endParaRPr lang="en-US" sz="1050" dirty="0"/>
          </a:p>
        </p:txBody>
      </p:sp>
      <p:pic>
        <p:nvPicPr>
          <p:cNvPr id="61" name="Image 22" descr="preencoded.png">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9162059" y="4645152"/>
            <a:ext cx="146304" cy="146304"/>
          </a:xfrm>
          <a:prstGeom prst="rect">
            <a:avLst/>
          </a:prstGeom>
        </p:spPr>
      </p:pic>
      <p:sp>
        <p:nvSpPr>
          <p:cNvPr id="62" name="Text 37"/>
          <p:cNvSpPr/>
          <p:nvPr/>
        </p:nvSpPr>
        <p:spPr>
          <a:xfrm>
            <a:off x="9372371" y="4590288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Multi-jobsite visibility</a:t>
            </a:r>
            <a:endParaRPr lang="en-US" sz="1050" dirty="0"/>
          </a:p>
        </p:txBody>
      </p:sp>
      <p:pic>
        <p:nvPicPr>
          <p:cNvPr id="63" name="Image 23" descr="preencoded.png">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9162059" y="5029200"/>
            <a:ext cx="146304" cy="146304"/>
          </a:xfrm>
          <a:prstGeom prst="rect">
            <a:avLst/>
          </a:prstGeom>
        </p:spPr>
      </p:pic>
      <p:sp>
        <p:nvSpPr>
          <p:cNvPr id="64" name="Text 38"/>
          <p:cNvSpPr/>
          <p:nvPr/>
        </p:nvSpPr>
        <p:spPr>
          <a:xfrm>
            <a:off x="9372371" y="4974336"/>
            <a:ext cx="20420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 &amp; support</a:t>
            </a:r>
            <a:endParaRPr lang="en-US" sz="1050" dirty="0"/>
          </a:p>
        </p:txBody>
      </p:sp>
      <p:sp>
        <p:nvSpPr>
          <p:cNvPr id="65" name="Shape 39"/>
          <p:cNvSpPr/>
          <p:nvPr/>
        </p:nvSpPr>
        <p:spPr>
          <a:xfrm>
            <a:off x="640080" y="5806440"/>
            <a:ext cx="10911535" cy="457200"/>
          </a:xfrm>
          <a:prstGeom prst="rect">
            <a:avLst/>
          </a:prstGeom>
          <a:solidFill>
            <a:srgbClr val="EAF1F8"/>
          </a:solidFill>
          <a:ln/>
        </p:spPr>
      </p:sp>
      <p:sp>
        <p:nvSpPr>
          <p:cNvPr id="66" name="Shape 40"/>
          <p:cNvSpPr/>
          <p:nvPr/>
        </p:nvSpPr>
        <p:spPr>
          <a:xfrm>
            <a:off x="640080" y="5806440"/>
            <a:ext cx="64008" cy="457200"/>
          </a:xfrm>
          <a:prstGeom prst="rect">
            <a:avLst/>
          </a:prstGeom>
          <a:solidFill>
            <a:srgbClr val="13304F"/>
          </a:solidFill>
          <a:ln/>
        </p:spPr>
      </p:sp>
      <p:sp>
        <p:nvSpPr>
          <p:cNvPr id="67" name="Text 41"/>
          <p:cNvSpPr/>
          <p:nvPr/>
        </p:nvSpPr>
        <p:spPr>
          <a:xfrm>
            <a:off x="896112" y="5806440"/>
            <a:ext cx="1045433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i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level that fits today — and add capability as your team, jobsites, and data grow.</a:t>
            </a:r>
            <a:endParaRPr lang="en-US" sz="1250" dirty="0"/>
          </a:p>
        </p:txBody>
      </p:sp>
      <p:sp>
        <p:nvSpPr>
          <p:cNvPr id="68" name="Text 42"/>
          <p:cNvSpPr/>
          <p:nvPr/>
        </p:nvSpPr>
        <p:spPr>
          <a:xfrm>
            <a:off x="640080" y="6437376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330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Safety360Docs</a:t>
            </a:r>
            <a:pPr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by Reliance EHS</a:t>
            </a:r>
            <a:endParaRPr lang="en-US" sz="950" dirty="0"/>
          </a:p>
        </p:txBody>
      </p:sp>
      <p:sp>
        <p:nvSpPr>
          <p:cNvPr id="69" name="Text 43"/>
          <p:cNvSpPr/>
          <p:nvPr/>
        </p:nvSpPr>
        <p:spPr>
          <a:xfrm>
            <a:off x="11002975" y="6437376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A9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3304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F9D5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1F9D5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GET STARTED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Start small, prove value, then scale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595" y="2631643"/>
            <a:ext cx="351130" cy="35113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 Scope a pilot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1–3 jobsites and the core modules your team needs first.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8698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643018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3214" y="2631643"/>
            <a:ext cx="351130" cy="35113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57418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 Prove value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43018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real workflows for a defined window and measure time saved and risk surfaced.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97317" y="2148840"/>
            <a:ext cx="3454298" cy="1783080"/>
          </a:xfrm>
          <a:prstGeom prst="rect">
            <a:avLst/>
          </a:prstGeom>
          <a:solidFill>
            <a:srgbClr val="1B4068"/>
          </a:solidFill>
          <a:ln w="12700">
            <a:solidFill>
              <a:srgbClr val="2C4A6B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371637" y="2441448"/>
            <a:ext cx="731520" cy="731520"/>
          </a:xfrm>
          <a:prstGeom prst="ellipse">
            <a:avLst/>
          </a:prstGeom>
          <a:solidFill>
            <a:srgbClr val="1F9D5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61832" y="2631643"/>
            <a:ext cx="351130" cy="35113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9286037" y="2459736"/>
            <a:ext cx="2082698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 Scale with confidence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71637" y="3246120"/>
            <a:ext cx="290565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150" dirty="0">
                <a:solidFill>
                  <a:srgbClr val="C7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modules, sites, and predictive insights as adoption grows.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343400"/>
            <a:ext cx="10911535" cy="16916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27000" dist="38100" dir="5400000">
              <a:srgbClr val="1B2A3A">
                <a:alpha val="16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097280" y="4636008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3304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Ready to modernize safety with a cleaner, predictive operating model?</a:t>
            </a:r>
            <a:endParaRPr lang="en-US" sz="2000" dirty="0"/>
          </a:p>
        </p:txBody>
      </p:sp>
      <p:sp>
        <p:nvSpPr>
          <p:cNvPr id="22" name="Text 17"/>
          <p:cNvSpPr/>
          <p:nvPr/>
        </p:nvSpPr>
        <p:spPr>
          <a:xfrm>
            <a:off x="1097280" y="54864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 Sladky, CSP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5B6B7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Reliance EHS</a:t>
            </a:r>
            <a:endParaRPr lang="en-US" sz="1400" dirty="0"/>
          </a:p>
        </p:txBody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28255" y="4654296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7820863" y="45811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(913) 857-2515</a:t>
            </a:r>
            <a:endParaRPr lang="en-US" sz="1300" dirty="0"/>
          </a:p>
        </p:txBody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8255" y="5020056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820863" y="494690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stevenssladky1@gmail.com</a:t>
            </a:r>
            <a:endParaRPr lang="en-US" sz="1250" dirty="0"/>
          </a:p>
        </p:txBody>
      </p:sp>
      <p:sp>
        <p:nvSpPr>
          <p:cNvPr id="27" name="Shape 20"/>
          <p:cNvSpPr/>
          <p:nvPr/>
        </p:nvSpPr>
        <p:spPr>
          <a:xfrm>
            <a:off x="7528255" y="5422392"/>
            <a:ext cx="3291840" cy="457200"/>
          </a:xfrm>
          <a:prstGeom prst="roundRect">
            <a:avLst>
              <a:gd name="adj" fmla="val 20000"/>
            </a:avLst>
          </a:prstGeom>
          <a:solidFill>
            <a:srgbClr val="0E7C8B"/>
          </a:solidFill>
          <a:ln/>
        </p:spPr>
      </p:sp>
      <p:pic>
        <p:nvPicPr>
          <p:cNvPr id="2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8295" y="5541264"/>
            <a:ext cx="219456" cy="219456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8076895" y="542239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Schedule a follow-up call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Safety360Docs — Platform in Action</dc:title>
  <dc:subject>PptxGenJS Presentation</dc:subject>
  <dc:creator>Reliance EHS</dc:creator>
  <cp:lastModifiedBy>Reliance EHS</cp:lastModifiedBy>
  <cp:revision>1</cp:revision>
  <dcterms:created xsi:type="dcterms:W3CDTF">2026-06-05T01:26:01Z</dcterms:created>
  <dcterms:modified xsi:type="dcterms:W3CDTF">2026-06-05T01:26:01Z</dcterms:modified>
</cp:coreProperties>
</file>
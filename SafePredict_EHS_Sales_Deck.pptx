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645920"/>
            <a:ext cx="4754880" cy="4754880"/>
          </a:xfrm>
          <a:prstGeom prst="ellipse">
            <a:avLst/>
          </a:prstGeom>
          <a:solidFill>
            <a:srgbClr val="243F6A"/>
          </a:solidFill>
          <a:ln w="12700">
            <a:solidFill>
              <a:srgbClr val="243F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383280"/>
            <a:ext cx="2743200" cy="2743200"/>
          </a:xfrm>
          <a:prstGeom prst="ellipse">
            <a:avLst/>
          </a:prstGeom>
          <a:solidFill>
            <a:srgbClr val="2A4878"/>
          </a:solidFill>
          <a:ln w="12700">
            <a:solidFill>
              <a:srgbClr val="2A487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353312"/>
            <a:ext cx="73152" cy="21488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98448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SafePredict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2359152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EHS Intelligence for Construction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managing safety. Start predicting it.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773168"/>
            <a:ext cx="84124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AI-powered modules  |  One integrated safety platform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EHS Team Is Doing Too Much Manually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1609344" cy="3794760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960120"/>
            <a:ext cx="1609344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" y="1115568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" y="1673352"/>
            <a:ext cx="1609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Incident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" y="2350008"/>
            <a:ext cx="16093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take hours.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inconsistent.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go unnoticed.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" y="425196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83664" y="960120"/>
            <a:ext cx="1609344" cy="3794760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83664" y="960120"/>
            <a:ext cx="1609344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59736" y="1115568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9736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83664" y="1673352"/>
            <a:ext cx="1609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83664" y="2350008"/>
            <a:ext cx="16093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change constantly.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are only found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audits.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83664" y="425196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584448" y="960120"/>
            <a:ext cx="1609344" cy="3794760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584448" y="960120"/>
            <a:ext cx="1609344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60520" y="1115568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60520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84448" y="1673352"/>
            <a:ext cx="1609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84448" y="2350008"/>
            <a:ext cx="16093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lapse.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 fail.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grow silently.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84448" y="425196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285232" y="960120"/>
            <a:ext cx="1609344" cy="3794760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285232" y="960120"/>
            <a:ext cx="1609344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61304" y="1115568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61304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85232" y="1673352"/>
            <a:ext cx="1609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Assessments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85232" y="2350008"/>
            <a:ext cx="16093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JSAs go stale.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updates take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every time.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85232" y="425196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86016" y="960120"/>
            <a:ext cx="1609344" cy="3794760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86016" y="960120"/>
            <a:ext cx="1609344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62088" y="1115568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62088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86016" y="1673352"/>
            <a:ext cx="1609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86016" y="2350008"/>
            <a:ext cx="16093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lives everywhere.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take days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compile manually.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86016" y="425196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818888"/>
            <a:ext cx="84124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SafePredict replaces manual processes with AI — across every one of these areas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50292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914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Incident Reporting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3931920" cy="3931920"/>
          </a:xfrm>
          <a:prstGeom prst="rect">
            <a:avLst/>
          </a:prstGeom>
          <a:solidFill>
            <a:srgbClr val="FFF7ED"/>
          </a:solidFill>
          <a:ln w="19050">
            <a:solidFill>
              <a:srgbClr val="FED7A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3931920" cy="457200"/>
          </a:xfrm>
          <a:prstGeom prst="rect">
            <a:avLst/>
          </a:prstGeom>
          <a:solidFill>
            <a:srgbClr val="FEF2E7"/>
          </a:solidFill>
          <a:ln w="19050">
            <a:solidFill>
              <a:srgbClr val="FED7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3268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44475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Time-consuming, inconsistent data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05740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spend 2-4 hours per incident report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forms and ad-hoc emails create data gaps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patterns or recurring root causes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Near-miss reports often go unsubmitted by field crews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70832" y="914400"/>
            <a:ext cx="91440" cy="3931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45152" y="914400"/>
            <a:ext cx="4224528" cy="3931920"/>
          </a:xfrm>
          <a:prstGeom prst="rect">
            <a:avLst/>
          </a:prstGeom>
          <a:solidFill>
            <a:srgbClr val="ECFDF5"/>
          </a:solidFill>
          <a:ln w="19050">
            <a:solidFill>
              <a:srgbClr val="A7F3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45152" y="914400"/>
            <a:ext cx="4224528" cy="457200"/>
          </a:xfrm>
          <a:prstGeom prst="rect">
            <a:avLst/>
          </a:prstGeom>
          <a:solidFill>
            <a:srgbClr val="DCFCE7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82312" y="932688"/>
            <a:ext cx="3950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SAFEPREDICT HELPS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28032" y="1444752"/>
            <a:ext cx="3904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Auto-drafting + pattern detection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28032" y="2057400"/>
            <a:ext cx="390448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auto-drafts incident reports from voice or field input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templates ensure complete, consistent data every time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engine automatically flags recurring hazards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for field crews — works fully offline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50292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914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 Tracking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3931920" cy="3931920"/>
          </a:xfrm>
          <a:prstGeom prst="rect">
            <a:avLst/>
          </a:prstGeom>
          <a:solidFill>
            <a:srgbClr val="FFF7ED"/>
          </a:solidFill>
          <a:ln w="19050">
            <a:solidFill>
              <a:srgbClr val="FED7A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3931920" cy="457200"/>
          </a:xfrm>
          <a:prstGeom prst="rect">
            <a:avLst/>
          </a:prstGeom>
          <a:solidFill>
            <a:srgbClr val="FEF2E7"/>
          </a:solidFill>
          <a:ln w="19050">
            <a:solidFill>
              <a:srgbClr val="FED7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3268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44475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Constant changes, hard to monitor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05740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OSHA and state regulations update without advance warning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gaps are only discovered during formal audits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tracking of which regulations apply where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and financial exposure from missed requirements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70832" y="914400"/>
            <a:ext cx="91440" cy="3931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45152" y="914400"/>
            <a:ext cx="4224528" cy="3931920"/>
          </a:xfrm>
          <a:prstGeom prst="rect">
            <a:avLst/>
          </a:prstGeom>
          <a:solidFill>
            <a:srgbClr val="ECFDF5"/>
          </a:solidFill>
          <a:ln w="19050">
            <a:solidFill>
              <a:srgbClr val="A7F3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45152" y="914400"/>
            <a:ext cx="4224528" cy="457200"/>
          </a:xfrm>
          <a:prstGeom prst="rect">
            <a:avLst/>
          </a:prstGeom>
          <a:solidFill>
            <a:srgbClr val="DCFCE7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82312" y="932688"/>
            <a:ext cx="3950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SAFEPREDICT HELPS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28032" y="1444752"/>
            <a:ext cx="3904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Reg-change alerts + gap analysis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28032" y="2057400"/>
            <a:ext cx="390448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monitoring of OSHA, EPA, and state agency updates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 mapped to your specific sites and operations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gap analysis against your current safety program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compliance summaries generated in one click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50292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914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Management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3931920" cy="3931920"/>
          </a:xfrm>
          <a:prstGeom prst="rect">
            <a:avLst/>
          </a:prstGeom>
          <a:solidFill>
            <a:srgbClr val="FFF7ED"/>
          </a:solidFill>
          <a:ln w="19050">
            <a:solidFill>
              <a:srgbClr val="FED7A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3931920" cy="457200"/>
          </a:xfrm>
          <a:prstGeom prst="rect">
            <a:avLst/>
          </a:prstGeom>
          <a:solidFill>
            <a:srgbClr val="FEF2E7"/>
          </a:solidFill>
          <a:ln w="19050">
            <a:solidFill>
              <a:srgbClr val="FED7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3268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44475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tracking, expiration lapses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05740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 miss critical certification expiry dates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burden falls on already-stretched EHS professionals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 training onboarding is inconsistent site to site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view of team-wide compliance or completion status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70832" y="914400"/>
            <a:ext cx="91440" cy="3931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45152" y="914400"/>
            <a:ext cx="4224528" cy="3931920"/>
          </a:xfrm>
          <a:prstGeom prst="rect">
            <a:avLst/>
          </a:prstGeom>
          <a:solidFill>
            <a:srgbClr val="ECFDF5"/>
          </a:solidFill>
          <a:ln w="19050">
            <a:solidFill>
              <a:srgbClr val="A7F3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45152" y="914400"/>
            <a:ext cx="4224528" cy="457200"/>
          </a:xfrm>
          <a:prstGeom prst="rect">
            <a:avLst/>
          </a:prstGeom>
          <a:solidFill>
            <a:srgbClr val="DCFCE7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82312" y="932688"/>
            <a:ext cx="3950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SAFEPREDICT HELPS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28032" y="1444752"/>
            <a:ext cx="3904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alerts + auto-assignment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28032" y="2057400"/>
            <a:ext cx="390448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expiration alerts at 30, 60, and 90 days out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Auto-assigns required training based on role and risk level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training compliance dashboard for all staff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with existing LMS systems or runs standalone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50292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914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Assessments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3931920" cy="3931920"/>
          </a:xfrm>
          <a:prstGeom prst="rect">
            <a:avLst/>
          </a:prstGeom>
          <a:solidFill>
            <a:srgbClr val="FFF7ED"/>
          </a:solidFill>
          <a:ln w="19050">
            <a:solidFill>
              <a:srgbClr val="FED7A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3931920" cy="457200"/>
          </a:xfrm>
          <a:prstGeom prst="rect">
            <a:avLst/>
          </a:prstGeom>
          <a:solidFill>
            <a:srgbClr val="FEF2E7"/>
          </a:solidFill>
          <a:ln w="19050">
            <a:solidFill>
              <a:srgbClr val="FED7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3268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44475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Outdated JSAs, field time required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05740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Safety Analyses go stale between similar projects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supervisors spend hours drafting and updating JSAs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ratings are subjective and inconsistent across crews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data is never reused — rebuilt from scratch each time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70832" y="914400"/>
            <a:ext cx="91440" cy="3931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45152" y="914400"/>
            <a:ext cx="4224528" cy="3931920"/>
          </a:xfrm>
          <a:prstGeom prst="rect">
            <a:avLst/>
          </a:prstGeom>
          <a:solidFill>
            <a:srgbClr val="ECFDF5"/>
          </a:solidFill>
          <a:ln w="19050">
            <a:solidFill>
              <a:srgbClr val="A7F3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45152" y="914400"/>
            <a:ext cx="4224528" cy="457200"/>
          </a:xfrm>
          <a:prstGeom prst="rect">
            <a:avLst/>
          </a:prstGeom>
          <a:solidFill>
            <a:srgbClr val="DCFCE7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82312" y="932688"/>
            <a:ext cx="3950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SAFEPREDICT HELPS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28032" y="1444752"/>
            <a:ext cx="3904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AI-drafted templates + risk scoring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28032" y="2057400"/>
            <a:ext cx="390448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complete JSAs from task descriptions in seconds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objective risk scoring using industry benchmarks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draw from your historical incident and near-miss data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supervisor review and sign-off available on mobile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50292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914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 &amp; Reporting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3931920" cy="3931920"/>
          </a:xfrm>
          <a:prstGeom prst="rect">
            <a:avLst/>
          </a:prstGeom>
          <a:solidFill>
            <a:srgbClr val="FFF7ED"/>
          </a:solidFill>
          <a:ln w="19050">
            <a:solidFill>
              <a:srgbClr val="FED7A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3931920" cy="457200"/>
          </a:xfrm>
          <a:prstGeom prst="rect">
            <a:avLst/>
          </a:prstGeom>
          <a:solidFill>
            <a:srgbClr val="FEF2E7"/>
          </a:solidFill>
          <a:ln w="19050">
            <a:solidFill>
              <a:srgbClr val="FED7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3268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44475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scattered, manual effort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05740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data lives in spreadsheets, emails, and binders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and quarterly reports take days to compile manually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lacks real-time visibility into safety performance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and sustainability reporting is reactive and ad-hoc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70832" y="914400"/>
            <a:ext cx="91440" cy="3931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45152" y="914400"/>
            <a:ext cx="4224528" cy="3931920"/>
          </a:xfrm>
          <a:prstGeom prst="rect">
            <a:avLst/>
          </a:prstGeom>
          <a:solidFill>
            <a:srgbClr val="ECFDF5"/>
          </a:solidFill>
          <a:ln w="19050">
            <a:solidFill>
              <a:srgbClr val="A7F3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45152" y="914400"/>
            <a:ext cx="4224528" cy="457200"/>
          </a:xfrm>
          <a:prstGeom prst="rect">
            <a:avLst/>
          </a:prstGeom>
          <a:solidFill>
            <a:srgbClr val="DCFCE7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82312" y="932688"/>
            <a:ext cx="3950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SAFEPREDICT HELPS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28032" y="1444752"/>
            <a:ext cx="3904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Auto-dashboards + ESG summaries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28032" y="2057400"/>
            <a:ext cx="390448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dashboards aggregate all safety KPIs in one platform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board-ready and executive safety reports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ESG-ready safety metrics formatted for investor reporting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benchmarking against industry peers and targets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at a Glance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157276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1572768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7804" y="1115568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7804" y="11155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" y="182880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Incident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" y="2514600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Auto-drafting,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detection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4114800"/>
            <a:ext cx="1298448" cy="292608"/>
          </a:xfrm>
          <a:prstGeom prst="rect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11480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92808" y="960120"/>
            <a:ext cx="157276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92808" y="960120"/>
            <a:ext cx="1572768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82012" y="1115568"/>
            <a:ext cx="594360" cy="5943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82012" y="11155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92808" y="182880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92808" y="2514600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Reg-change alerts,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029968" y="4114800"/>
            <a:ext cx="1298448" cy="292608"/>
          </a:xfrm>
          <a:prstGeom prst="rect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29968" y="411480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557016" y="960120"/>
            <a:ext cx="157276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557016" y="960120"/>
            <a:ext cx="1572768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46220" y="1115568"/>
            <a:ext cx="59436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46220" y="11155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557016" y="182880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557016" y="2514600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alerts,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auto-assignment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94176" y="4114800"/>
            <a:ext cx="1298448" cy="292608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94176" y="411480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221224" y="960120"/>
            <a:ext cx="157276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221224" y="960120"/>
            <a:ext cx="1572768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10428" y="1115568"/>
            <a:ext cx="594360" cy="5943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10428" y="11155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21224" y="182880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Assessments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21224" y="2514600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templates,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358384" y="4114800"/>
            <a:ext cx="1298448" cy="292608"/>
          </a:xfrm>
          <a:prstGeom prst="rect">
            <a:avLst/>
          </a:prstGeom>
          <a:solidFill>
            <a:srgbClr val="DC2626">
              <a:alpha val="12000"/>
            </a:srgbClr>
          </a:solidFill>
          <a:ln w="12700">
            <a:solidFill>
              <a:srgbClr val="DC2626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58384" y="411480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885432" y="960120"/>
            <a:ext cx="157276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885432" y="960120"/>
            <a:ext cx="1572768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74636" y="1115568"/>
            <a:ext cx="594360" cy="59436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74636" y="11155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885432" y="182880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Reporting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885432" y="2514600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Auto-dashboards,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summaries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022592" y="4114800"/>
            <a:ext cx="1298448" cy="292608"/>
          </a:xfrm>
          <a:prstGeom prst="rect">
            <a:avLst/>
          </a:prstGeom>
          <a:solidFill>
            <a:srgbClr val="15803D">
              <a:alpha val="12000"/>
            </a:srgbClr>
          </a:solidFill>
          <a:ln w="12700">
            <a:solidFill>
              <a:srgbClr val="15803D">
                <a:alpha val="5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22592" y="411480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818888"/>
            <a:ext cx="84124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modules are integrated — data flows across your entire safety program automatically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EHS Teams Choose SafePredict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51760" cy="39319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65176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1097280"/>
            <a:ext cx="640080" cy="6400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18745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Construction EHS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2542032"/>
            <a:ext cx="2103120" cy="292608"/>
          </a:xfrm>
          <a:prstGeom prst="rect">
            <a:avLst/>
          </a:prstGeom>
          <a:solidFill>
            <a:srgbClr val="F97316">
              <a:alpha val="15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5420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generic compliance tool adapted for safety — SafePredict is designed ground-up for construction EHS workflows, terminology, and regulatory requirements.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76732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how field crews and EHS managers actually work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for OSHA, EPA, and state-level construction regs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and risk libraries tuned for construction hazards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54680" y="960120"/>
            <a:ext cx="2651760" cy="39319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960120"/>
            <a:ext cx="26517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0520" y="1097280"/>
            <a:ext cx="640080" cy="6400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052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154680" y="18745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That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Learns Your Site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29000" y="2542032"/>
            <a:ext cx="2103120" cy="292608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25420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91840" y="2926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learns from your incident history, your trades, and your sites — getting smarter and more accurate over time without manual tuning.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91840" y="376732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detection personalized to your specific operation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improves with every assessment completed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insights based on your actual workforce and sites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89320" y="960120"/>
            <a:ext cx="2651760" cy="39319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89320" y="960120"/>
            <a:ext cx="2651760" cy="640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95160" y="1097280"/>
            <a:ext cx="640080" cy="64008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9516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989320" y="18745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Always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Compliance-Ready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63640" y="2542032"/>
            <a:ext cx="2103120" cy="292608"/>
          </a:xfrm>
          <a:prstGeom prst="rect">
            <a:avLst/>
          </a:prstGeom>
          <a:solidFill>
            <a:srgbClr val="15803D">
              <a:alpha val="15000"/>
            </a:srgbClr>
          </a:solidFill>
          <a:ln w="12700">
            <a:solidFill>
              <a:srgbClr val="15803D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25420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Audit-Proof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26480" y="2926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creates an automated audit trail. Generate compliance reports, OSHA 300 logs, and ESG summaries in one click — any time, without manual prep.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26480" y="376732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digital documentation of all safety activities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OSHA 300/301 log generation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ESG-ready reporting for board and investor review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645920"/>
            <a:ext cx="4754880" cy="4754880"/>
          </a:xfrm>
          <a:prstGeom prst="ellipse">
            <a:avLst/>
          </a:prstGeom>
          <a:solidFill>
            <a:srgbClr val="243F6A"/>
          </a:solidFill>
          <a:ln w="12700">
            <a:solidFill>
              <a:srgbClr val="243F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383280"/>
            <a:ext cx="2743200" cy="2743200"/>
          </a:xfrm>
          <a:prstGeom prst="ellipse">
            <a:avLst/>
          </a:prstGeom>
          <a:solidFill>
            <a:srgbClr val="2A4878"/>
          </a:solidFill>
          <a:ln w="12700">
            <a:solidFill>
              <a:srgbClr val="2A48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Transform Your EHS Program?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how to get started: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475488" cy="47548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11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70432" y="201168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live platform demo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to your EHS program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475488" cy="47548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788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70432" y="278892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free 30-day pilot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one site or project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475488" cy="47548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566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70432" y="356616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across your organization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full onboarding support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411480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51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safepredict.ai  |  hello@safepredict.ai  |  1-800-SAFE-PRD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0" y="1828800"/>
            <a:ext cx="2743200" cy="2560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201168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“SafePredict cut our incident reporting time by 70% in the first month.”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80760" y="33832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EHS Director,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 General Contractor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SafePredict  |  Built for Construction. Powered by AI. Ready for Your Team.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2026-06-05T01:32:00Z</dcterms:created>
  <dcterms:modified xsi:type="dcterms:W3CDTF">2026-06-05T01:32:00Z</dcterms:modified>
</cp:coreProperties>
</file>
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0ecdfefd024683" /><Relationship Type="http://schemas.openxmlformats.org/officeDocument/2006/relationships/extended-properties" Target="/docProps/app.xml" Id="R7a80efc0921d4d1d" /><Relationship Type="http://schemas.openxmlformats.org/officeDocument/2006/relationships/officeDocument" Target="/ppt/presentation.xml" Id="Rb644f673620f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92d90d5744b61"/>
  </p:sldMasterIdLst>
  <p:notesMasterIdLst>
    <p:notesMasterId xmlns:r="http://schemas.openxmlformats.org/officeDocument/2006/relationships" r:id="R5bdc9344c3a04cee"/>
  </p:notesMasterIdLst>
  <p:sldIdLst>
    <p:sldId xmlns:r="http://schemas.openxmlformats.org/officeDocument/2006/relationships" id="256" r:id="Rc51de677610c43af"/>
    <p:sldId xmlns:r="http://schemas.openxmlformats.org/officeDocument/2006/relationships" id="257" r:id="R7ade338d8dd14ae8"/>
    <p:sldId xmlns:r="http://schemas.openxmlformats.org/officeDocument/2006/relationships" id="258" r:id="Rcf4619b69e464341"/>
    <p:sldId xmlns:r="http://schemas.openxmlformats.org/officeDocument/2006/relationships" id="259" r:id="Rf541cbf7cbac43e7"/>
    <p:sldId xmlns:r="http://schemas.openxmlformats.org/officeDocument/2006/relationships" id="260" r:id="R64f9585903db47f3"/>
    <p:sldId xmlns:r="http://schemas.openxmlformats.org/officeDocument/2006/relationships" id="261" r:id="Rda74130f125a4e6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92d90d5744b61" /><Relationship Type="http://schemas.openxmlformats.org/officeDocument/2006/relationships/theme" Target="/ppt/theme/theme1.xml" Id="R8c8a3cb6e747420d" /><Relationship Type="http://schemas.openxmlformats.org/officeDocument/2006/relationships/notesMaster" Target="/ppt/notesMasters/notesMaster1.xml" Id="R5bdc9344c3a04cee" /><Relationship Type="http://schemas.openxmlformats.org/officeDocument/2006/relationships/presProps" Target="/ppt/presProps.xml" Id="R6505d2d23bab4f3b" /><Relationship Type="http://schemas.openxmlformats.org/officeDocument/2006/relationships/viewProps" Target="/ppt/viewProps.xml" Id="R150a11e39c964d2e" /><Relationship Type="http://schemas.openxmlformats.org/officeDocument/2006/relationships/tableStyles" Target="/ppt/tableStyles.xml" Id="R6f28f60cdb3a4219" /><Relationship Type="http://schemas.openxmlformats.org/officeDocument/2006/relationships/slide" Target="/ppt/slides/slide1.xml" Id="Rc51de677610c43af" /><Relationship Type="http://schemas.openxmlformats.org/officeDocument/2006/relationships/slide" Target="/ppt/slides/slide2.xml" Id="R7ade338d8dd14ae8" /><Relationship Type="http://schemas.openxmlformats.org/officeDocument/2006/relationships/slide" Target="/ppt/slides/slide3.xml" Id="Rcf4619b69e464341" /><Relationship Type="http://schemas.openxmlformats.org/officeDocument/2006/relationships/slide" Target="/ppt/slides/slide4.xml" Id="Rf541cbf7cbac43e7" /><Relationship Type="http://schemas.openxmlformats.org/officeDocument/2006/relationships/slide" Target="/ppt/slides/slide5.xml" Id="R64f9585903db47f3" /><Relationship Type="http://schemas.openxmlformats.org/officeDocument/2006/relationships/slide" Target="/ppt/slides/slide6.xml" Id="Rda74130f125a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1d1bc14f2a643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58a4e6b2d4b0a" /><Relationship Type="http://schemas.openxmlformats.org/officeDocument/2006/relationships/notesMaster" Target="/ppt/notesMasters/notesMaster1.xml" Id="R5b910cca79204c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4614522ee145bb" /><Relationship Type="http://schemas.openxmlformats.org/officeDocument/2006/relationships/notesMaster" Target="/ppt/notesMasters/notesMaster1.xml" Id="R3a47117af64749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f7645c637d4743" /><Relationship Type="http://schemas.openxmlformats.org/officeDocument/2006/relationships/notesMaster" Target="/ppt/notesMasters/notesMaster1.xml" Id="Rc07d04b999c34e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49026eb714398" /><Relationship Type="http://schemas.openxmlformats.org/officeDocument/2006/relationships/notesMaster" Target="/ppt/notesMasters/notesMaster1.xml" Id="R3382e4d0481b4e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68ee21acd64c78" /><Relationship Type="http://schemas.openxmlformats.org/officeDocument/2006/relationships/notesMaster" Target="/ppt/notesMasters/notesMaster1.xml" Id="R304fae42c8bb4b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83e6d0541b4bbe" /><Relationship Type="http://schemas.openxmlformats.org/officeDocument/2006/relationships/notesMaster" Target="/ppt/notesMasters/notesMaster1.xml" Id="Rc0e577e3fae7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243447c4d48c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9add12128e47a3" /><Relationship Type="http://schemas.openxmlformats.org/officeDocument/2006/relationships/slideLayout" Target="/ppt/slideLayouts/slideLayout2.xml" Id="Rc65c51b13a0f40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5c51b13a0f40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1c8bdcd6f841b1" /><Relationship Type="http://schemas.openxmlformats.org/officeDocument/2006/relationships/notesSlide" Target="/ppt/notesSlides/notesSlide1.xml" Id="Rea50355061c8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c67bfde5645e9" /><Relationship Type="http://schemas.openxmlformats.org/officeDocument/2006/relationships/notesSlide" Target="/ppt/notesSlides/notesSlide2.xml" Id="R61b20e37e2e7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8cb567d0574821" /><Relationship Type="http://schemas.openxmlformats.org/officeDocument/2006/relationships/notesSlide" Target="/ppt/notesSlides/notesSlide3.xml" Id="R2d0e7e4bdf7e4f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52e2cbc2d43d2" /><Relationship Type="http://schemas.openxmlformats.org/officeDocument/2006/relationships/notesSlide" Target="/ppt/notesSlides/notesSlide4.xml" Id="R01ded57809064f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d2dbc0e65c48ed" /><Relationship Type="http://schemas.openxmlformats.org/officeDocument/2006/relationships/notesSlide" Target="/ppt/notesSlides/notesSlide5.xml" Id="Re4e0766bb32f42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46e0b0a53423e" /><Relationship Type="http://schemas.openxmlformats.org/officeDocument/2006/relationships/notesSlide" Target="/ppt/notesSlides/notesSlide6.xml" Id="R987f39f30de94c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BF0EEF1-759F-4FBA-952E-1F12099A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803D"/>
                </a:solidFill>
              </a:defRPr>
            </a:pPr>
            <a:r>
              <a:rPr sz="1800" b="1">
                <a:solidFill>
                  <a:srgbClr val="15803D"/>
                </a:solidFill>
              </a:rPr>
              <a:t>Safety360Docs Platform Training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B6FDBDB-C6FB-409D-AC6C-FDF25370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8515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F172A"/>
                </a:solidFill>
              </a:defRPr>
            </a:pPr>
            <a:r>
              <a:rPr sz="5700" b="1">
                <a:solidFill>
                  <a:srgbClr val="0F172A"/>
                </a:solidFill>
              </a:rPr>
              <a:t>Field Workflows For Jobsites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72B716C7-BD8C-4123-B86A-E4ADF85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7526D68-278B-4828-958A-0A6D358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7048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334155"/>
                </a:solidFill>
              </a:defRPr>
            </a:pPr>
            <a:r>
              <a:rPr sz="2475">
                <a:solidFill>
                  <a:srgbClr val="334155"/>
                </a:solidFill>
              </a:rPr>
              <a:t>Jobsites, audits, JSAs, permits, incidents, and field issue tracking.</a:t>
            </a:r>
          </a:p>
        </p:txBody>
      </p:sp>
      <p:sp>
        <p:nvSpPr>
          <p:cNvPr id="5" name="audience-field-teams">
            <a:extLst xmlns:a="http://schemas.openxmlformats.org/drawingml/2006/main">
              <a:ext uri="{FF2B5EF4-FFF2-40B4-BE49-F238E27FC236}">
                <a16:creationId xmlns:a16="http://schemas.microsoft.com/office/drawing/2014/main" id="{BCA9EB3E-57F3-45BD-B667-96DE735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47800"/>
            <a:ext cx="725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Audience: Field teams</a:t>
            </a:r>
          </a:p>
        </p:txBody>
      </p:sp>
      <p:sp>
        <p:nvSpPr>
          <p:cNvPr id="6" name="module-1">
            <a:extLst xmlns:a="http://schemas.openxmlformats.org/drawingml/2006/main">
              <a:ext uri="{FF2B5EF4-FFF2-40B4-BE49-F238E27FC236}">
                <a16:creationId xmlns:a16="http://schemas.microsoft.com/office/drawing/2014/main" id="{8A12A92C-3018-430E-9747-8446704B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1. Jobsites</a:t>
            </a:r>
          </a:p>
        </p:txBody>
      </p:sp>
      <p:sp>
        <p:nvSpPr>
          <p:cNvPr id="7" name="module-2">
            <a:extLst xmlns:a="http://schemas.openxmlformats.org/drawingml/2006/main">
              <a:ext uri="{FF2B5EF4-FFF2-40B4-BE49-F238E27FC236}">
                <a16:creationId xmlns:a16="http://schemas.microsoft.com/office/drawing/2014/main" id="{0E2AA164-D596-4ADA-866C-FAF4C2A3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98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2. Audits</a:t>
            </a:r>
          </a:p>
        </p:txBody>
      </p:sp>
      <p:sp>
        <p:nvSpPr>
          <p:cNvPr id="8" name="module-3">
            <a:extLst xmlns:a="http://schemas.openxmlformats.org/drawingml/2006/main">
              <a:ext uri="{FF2B5EF4-FFF2-40B4-BE49-F238E27FC236}">
                <a16:creationId xmlns:a16="http://schemas.microsoft.com/office/drawing/2014/main" id="{EC6D6067-5266-443A-AE45-C34C5BC1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004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3. JSA</a:t>
            </a:r>
          </a:p>
        </p:txBody>
      </p:sp>
      <p:sp>
        <p:nvSpPr>
          <p:cNvPr id="9" name="module-4">
            <a:extLst xmlns:a="http://schemas.openxmlformats.org/drawingml/2006/main">
              <a:ext uri="{FF2B5EF4-FFF2-40B4-BE49-F238E27FC236}">
                <a16:creationId xmlns:a16="http://schemas.microsoft.com/office/drawing/2014/main" id="{75092AF8-6260-4B10-953A-018A73FD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100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4. Permits</a:t>
            </a:r>
          </a:p>
        </p:txBody>
      </p:sp>
      <p:sp>
        <p:nvSpPr>
          <p:cNvPr id="10" name="module-5">
            <a:extLst xmlns:a="http://schemas.openxmlformats.org/drawingml/2006/main">
              <a:ext uri="{FF2B5EF4-FFF2-40B4-BE49-F238E27FC236}">
                <a16:creationId xmlns:a16="http://schemas.microsoft.com/office/drawing/2014/main" id="{7237D141-99DC-4B7E-B8EC-9643B4D9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5. Incidents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B30AD1E-09B3-4B1D-B73D-3E7DD4F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0"/>
            <a:ext cx="1645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Editable PowerPoint deck | Built for live walkthroughs and onboarding.</a:t>
            </a:r>
          </a:p>
        </p:txBody>
      </p:sp>
    </p:spTree>
    <p:extLst>
      <p:ext uri="{BB962C8B-B14F-4D97-AF65-F5344CB8AC3E}">
        <p14:creationId xmlns:p14="http://schemas.microsoft.com/office/powerpoint/2010/main" val="18235044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at-this-module-teaches">
            <a:extLst xmlns:a="http://schemas.openxmlformats.org/drawingml/2006/main">
              <a:ext uri="{FF2B5EF4-FFF2-40B4-BE49-F238E27FC236}">
                <a16:creationId xmlns:a16="http://schemas.microsoft.com/office/drawing/2014/main" id="{55AA19A7-8008-4892-9739-F75E72D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What this module teaches</a:t>
            </a:r>
          </a:p>
        </p:txBody>
      </p:sp>
      <p:sp>
        <p:nvSpPr>
          <p:cNvPr id="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FA114DD7-BB20-4245-8992-EF51DD61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Field Workflows For Jobsites</a:t>
            </a:r>
          </a:p>
        </p:txBody>
      </p:sp>
      <p:sp>
        <p:nvSpPr>
          <p:cNvPr id="3" name="agenda-rule">
            <a:extLst xmlns:a="http://schemas.openxmlformats.org/drawingml/2006/main">
              <a:ext uri="{FF2B5EF4-FFF2-40B4-BE49-F238E27FC236}">
                <a16:creationId xmlns:a16="http://schemas.microsoft.com/office/drawing/2014/main" id="{7E48EE89-E0D6-4C8D-A11E-6C1F70B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BD71E310-5833-4D79-A122-6D106E5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803D"/>
                </a:solidFill>
              </a:defRPr>
            </a:pPr>
            <a:r>
              <a:rPr sz="3600" b="1">
                <a:solidFill>
                  <a:srgbClr val="15803D"/>
                </a:solidFill>
              </a:rPr>
              <a:t>01</a:t>
            </a:r>
          </a:p>
        </p:txBody>
      </p:sp>
      <p:sp>
        <p:nvSpPr>
          <p:cNvPr id="5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D92A5E51-4733-45FA-A49F-45283D55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Jobsites</a:t>
            </a:r>
          </a:p>
        </p:txBody>
      </p:sp>
      <p:sp>
        <p:nvSpPr>
          <p:cNvPr id="6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6530D6B3-0F95-4B22-9B24-6FF14461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FA7B3575-F13C-4D10-B2A4-3ABA18A3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803D"/>
                </a:solidFill>
              </a:defRPr>
            </a:pPr>
            <a:r>
              <a:rPr sz="3600" b="1">
                <a:solidFill>
                  <a:srgbClr val="15803D"/>
                </a:solidFill>
              </a:rPr>
              <a:t>02</a:t>
            </a:r>
          </a:p>
        </p:txBody>
      </p:sp>
      <p:sp>
        <p:nvSpPr>
          <p:cNvPr id="8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620433C7-1E97-41BA-9D55-C50F9BEE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Audits</a:t>
            </a:r>
          </a:p>
        </p:txBody>
      </p:sp>
      <p:sp>
        <p:nvSpPr>
          <p:cNvPr id="9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FC0AC499-AD3B-4B44-9D74-9F1B22C1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60C92239-6AF6-44E4-B4C2-B2796F0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803D"/>
                </a:solidFill>
              </a:defRPr>
            </a:pPr>
            <a:r>
              <a:rPr sz="3600" b="1">
                <a:solidFill>
                  <a:srgbClr val="15803D"/>
                </a:solidFill>
              </a:rPr>
              <a:t>03</a:t>
            </a:r>
          </a:p>
        </p:txBody>
      </p:sp>
      <p:sp>
        <p:nvSpPr>
          <p:cNvPr id="11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25F96EAB-1CB9-4A17-86CF-06A76E8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JSA</a:t>
            </a:r>
          </a:p>
        </p:txBody>
      </p:sp>
      <p:sp>
        <p:nvSpPr>
          <p:cNvPr id="12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27B2C847-D72B-452F-8309-7EE3473E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42FEDCBF-2A00-4A23-A98B-723B867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803D"/>
                </a:solidFill>
              </a:defRPr>
            </a:pPr>
            <a:r>
              <a:rPr sz="3600" b="1">
                <a:solidFill>
                  <a:srgbClr val="15803D"/>
                </a:solidFill>
              </a:rPr>
              <a:t>04</a:t>
            </a:r>
          </a:p>
        </p:txBody>
      </p:sp>
      <p:sp>
        <p:nvSpPr>
          <p:cNvPr id="14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025C3FB8-6C8D-46CA-9BB5-A64A83E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Permits</a:t>
            </a:r>
          </a:p>
        </p:txBody>
      </p:sp>
      <p:sp>
        <p:nvSpPr>
          <p:cNvPr id="15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1D3DC7C4-C020-4AF8-956C-026CAB7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460BFFCC-4D7B-4A58-814C-3345347A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803D"/>
                </a:solidFill>
              </a:defRPr>
            </a:pPr>
            <a:r>
              <a:rPr sz="3600" b="1">
                <a:solidFill>
                  <a:srgbClr val="15803D"/>
                </a:solidFill>
              </a:rPr>
              <a:t>05</a:t>
            </a:r>
          </a:p>
        </p:txBody>
      </p:sp>
      <p:sp>
        <p:nvSpPr>
          <p:cNvPr id="17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FD4E0726-FC32-4C95-8D87-9EF236A3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Incidents</a:t>
            </a:r>
          </a:p>
        </p:txBody>
      </p:sp>
      <p:sp>
        <p:nvSpPr>
          <p:cNvPr id="18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A91FC5C9-015E-4DDF-BD36-ADED24E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93483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0CAF028D-CC5F-488C-AB57-58949408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Project view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4DAA8811-B781-4999-A195-88385DBE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Start field work from the jobsite context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FE7B7E38-B84E-4A80-9520-A24F8FF5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DB594160-DBCE-4F59-AB1B-4ECC759C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1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32F4FC49-71B1-4832-B9EB-6D0C4275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2E3018D6-A0F9-4DBF-ABF0-B6804C5C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Open the jobsite workspace before reviewing project-specific records.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FA7BE6B8-515A-4830-B594-070321D4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76CA8AFA-D452-4C04-BF74-0A558C3F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jobsite pages for documents, team context, reports, and activity.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90411293-1B62-48BA-99B6-2A361A2B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D869C96F-511E-479D-AC6C-B6FCD21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Keep field workflows tied to the right project whenever possible.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68ACD154-21AA-4BCD-956C-B92D9BA1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3377283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73BD8FB4-6D2D-4AC8-A3B1-0AD07413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Daily controls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6849CF10-EA22-46AD-A6B9-D0FB2B83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Use the right field form for the decision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A79886C0-FBCF-4F02-AA21-64EE0A69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8C94330B-9BF9-4AFC-8B8C-A4539A62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2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D1474995-7B93-43F9-96FE-78264A9A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ADE17A3-DAF4-4AB9-BDDE-6C1D22B2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Audits capture observations and follow-up work.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2DE091F7-0B29-43C2-A4A6-E8D1DB9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428F64EB-2FAA-4C3C-B37B-0B989339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JSAs document task hazards, controls, and signoff.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7B4EF6A6-9159-4FBF-B95F-9310D8E7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A438A6F7-0126-43BD-A898-1D397A06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Permits support higher-risk approvals and stop-work visibility.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749F609C-8ACF-4A40-ADD1-5E7AADA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457138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3C1B4833-AFE0-4B78-8EED-B022BA3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Follow-up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9009F751-576E-480A-88FD-17E8A0B6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Incidents and issues need closure discipline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6DFCD035-566E-4B08-8E45-20F9A909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8D93509F-9249-4A76-8CC0-2C5E355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3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D1CE5C81-FDC9-43B8-9342-04B18FEF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E7220E79-F14D-4A9A-9D78-846A2B0C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the incident log for response, escalation, and recordkeeping.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C3968002-5AD9-4E15-A5C5-E4F10471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D1501AF4-D59E-496B-9689-F8C02156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the field issue log for corrective actions and recurring concerns.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CDCF7837-1F84-44FC-B0C6-2CB1F47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0EC9F904-66ED-426C-ACB1-8468DF19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Close items only when evidence and owner accountability are clear.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19F6EE9B-A96A-4B07-96DF-50BCCCC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7276213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out-checklist">
            <a:extLst xmlns:a="http://schemas.openxmlformats.org/drawingml/2006/main">
              <a:ext uri="{FF2B5EF4-FFF2-40B4-BE49-F238E27FC236}">
                <a16:creationId xmlns:a16="http://schemas.microsoft.com/office/drawing/2014/main" id="{0033F26D-93F2-45D0-9593-8B918B5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Closeout checklist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A5453F8-7348-4D4B-B6BA-1266EE9E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64592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Before the team leaves the training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1F83E727-802D-4937-BDE4-6D6DAA22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45568095-6794-438A-8581-81975B8E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5" name="bullet-copy">
            <a:extLst xmlns:a="http://schemas.openxmlformats.org/drawingml/2006/main">
              <a:ext uri="{FF2B5EF4-FFF2-40B4-BE49-F238E27FC236}">
                <a16:creationId xmlns:a16="http://schemas.microsoft.com/office/drawing/2014/main" id="{2E175E99-E3BA-47B0-9204-22CC4F1E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Choose the jobsite first, then the workflow.</a:t>
            </a:r>
          </a:p>
        </p:txBody>
      </p:sp>
      <p:sp>
        <p:nvSpPr>
          <p:cNvPr id="6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BB6FC6F3-C29C-47AD-BFBF-9C41AA76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7" name="bullet-copy">
            <a:extLst xmlns:a="http://schemas.openxmlformats.org/drawingml/2006/main">
              <a:ext uri="{FF2B5EF4-FFF2-40B4-BE49-F238E27FC236}">
                <a16:creationId xmlns:a16="http://schemas.microsoft.com/office/drawing/2014/main" id="{BB803748-09C4-4979-8CF7-E81F325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Keep evidence attached to the relevant record.</a:t>
            </a:r>
          </a:p>
        </p:txBody>
      </p:sp>
      <p:sp>
        <p:nvSpPr>
          <p:cNvPr id="8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334E248E-54DB-45F5-A854-4FC47302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803D"/>
                </a:solidFill>
              </a:defRPr>
            </a:pPr>
            <a:r>
              <a:rPr sz="2100" b="1">
                <a:solidFill>
                  <a:srgbClr val="15803D"/>
                </a:solidFill>
              </a:rPr>
              <a:t>-&gt;</a:t>
            </a:r>
          </a:p>
        </p:txBody>
      </p:sp>
      <p:sp>
        <p:nvSpPr>
          <p:cNvPr id="9" name="bullet-copy">
            <a:extLst xmlns:a="http://schemas.openxmlformats.org/drawingml/2006/main">
              <a:ext uri="{FF2B5EF4-FFF2-40B4-BE49-F238E27FC236}">
                <a16:creationId xmlns:a16="http://schemas.microsoft.com/office/drawing/2014/main" id="{E38ACE0A-91DA-4DD8-94B3-B87D3FBC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Review open issues before the next planning meeting.</a:t>
            </a:r>
          </a:p>
        </p:txBody>
      </p:sp>
      <p:sp>
        <p:nvSpPr>
          <p:cNvPr id="10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1ECF937F-587E-4794-85B0-EFE99CC9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238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34155"/>
                </a:solidFill>
              </a:defRPr>
            </a:pPr>
            <a:r>
              <a:rPr sz="2400" b="1">
                <a:solidFill>
                  <a:srgbClr val="334155"/>
                </a:solidFill>
              </a:rPr>
              <a:t>Next step: open Safety360Docs, repeat the workflow, and assign one owner for any cleanup found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2018914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2026-05-01T15:28:46.0300000Z</dcterms:created>
  <dcterms:modified xsi:type="dcterms:W3CDTF">2026-05-01T15:28:46.0300000Z</dcterms:modified>
</coreProperties>
</file>
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predicted risk</c:v>
                </c:pt>
              </c:strCache>
            </c:strRef>
          </c:tx>
          <c:spPr>
            <a:solidFill>
              <a:srgbClr val="0E7C8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Fall protection</c:v>
                  </c:pt>
                  <c:pt idx="1">
                    <c:v>Housekeeping</c:v>
                  </c:pt>
                  <c:pt idx="2">
                    <c:v>Walkways / trips</c:v>
                  </c:pt>
                  <c:pt idx="3">
                    <c:v>Machine guarding</c:v>
                  </c:pt>
                  <c:pt idx="4">
                    <c:v>Spill / slip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32520" y="105156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4" name="Image 1" descr="/sessions/beautiful-sleepy-franklin/mnt/outputs/deck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371600" cy="1371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9F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SAFETY360DOCS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40080" y="2743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risk. Prevent incidents.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40080" y="3886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safety operating system — documents, field workflows, compliance, and an AI engine that forecasts injury risk before it happens.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Reliance EHS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36815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Platform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still runs on scattered paperwork and hindsight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capture more data than ever — but it lives in binders, spreadsheets, and inboxes. By the time risk is visible, the incident has usually already happened.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90724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590724" cy="82296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70048"/>
            <a:ext cx="777240" cy="77724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872130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6118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Paperwork overload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permits, and signatures managed by hand across every jobsite.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3684" y="2286000"/>
            <a:ext cx="2590724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3684" y="2286000"/>
            <a:ext cx="2590724" cy="82296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13" name="Shape 10"/>
          <p:cNvSpPr/>
          <p:nvPr/>
        </p:nvSpPr>
        <p:spPr>
          <a:xfrm>
            <a:off x="3688004" y="2670048"/>
            <a:ext cx="777240" cy="77724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086" y="2872130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8004" y="36118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Observations go nowhere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88004" y="4069080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are hard to close out, trend, and turn into leading indicators.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87288" y="2286000"/>
            <a:ext cx="2590724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87288" y="2286000"/>
            <a:ext cx="2590724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5"/>
          <p:cNvSpPr/>
          <p:nvPr/>
        </p:nvSpPr>
        <p:spPr>
          <a:xfrm>
            <a:off x="6461608" y="2670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872130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61608" y="36118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incident response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61608" y="4069080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act after something goes wrong instead of preventing the repeat.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60891" y="2286000"/>
            <a:ext cx="2590724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60891" y="2286000"/>
            <a:ext cx="2590724" cy="82296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25" name="Shape 20"/>
          <p:cNvSpPr/>
          <p:nvPr/>
        </p:nvSpPr>
        <p:spPr>
          <a:xfrm>
            <a:off x="9235211" y="2670048"/>
            <a:ext cx="777240" cy="7772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294" y="2872130"/>
            <a:ext cx="373075" cy="3730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211" y="36118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readiness gaps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35211" y="4069080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competencies are invisible until an audit exposes them.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0" name="Shape 24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5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reacting late is measured in injuries, downtime, and claims — not just paperwork.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operating system for safety — from field to forecast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team needs to document, observe, comply, and predict — connected so every action feeds the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82296" cy="1627632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459736"/>
            <a:ext cx="713232" cy="713232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645176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10512" y="2423160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plan builders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32688" y="3172968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JSAs, CSEP/SSP, and safety programs from one library.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3458" y="2148840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53458" y="2148840"/>
            <a:ext cx="82296" cy="1627632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6066" y="2459736"/>
            <a:ext cx="713232" cy="713232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507" y="2645176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23890" y="2423160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workflows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46066" y="3172968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Permits, field issue log, and incident reporting from any device.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66837" y="2148840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6837" y="2148840"/>
            <a:ext cx="82296" cy="1627632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19" name="Shape 15"/>
          <p:cNvSpPr/>
          <p:nvPr/>
        </p:nvSpPr>
        <p:spPr>
          <a:xfrm>
            <a:off x="8359445" y="2459736"/>
            <a:ext cx="713232" cy="713232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885" y="2645176"/>
            <a:ext cx="342351" cy="3423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37269" y="2423160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Observations &amp; corrective actions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59445" y="3172968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hazards, assign owners, and prove closure.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032504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032504"/>
            <a:ext cx="82296" cy="1627632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25" name="Shape 20"/>
          <p:cNvSpPr/>
          <p:nvPr/>
        </p:nvSpPr>
        <p:spPr>
          <a:xfrm>
            <a:off x="932688" y="4343400"/>
            <a:ext cx="713232" cy="713232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28" y="4528840"/>
            <a:ext cx="342351" cy="34235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10512" y="4306824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audits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32688" y="50566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audits with findings, evidence, and review-ready records.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53458" y="4032504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53458" y="4032504"/>
            <a:ext cx="82296" cy="1627632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1" name="Shape 25"/>
          <p:cNvSpPr/>
          <p:nvPr/>
        </p:nvSpPr>
        <p:spPr>
          <a:xfrm>
            <a:off x="4646066" y="4343400"/>
            <a:ext cx="713232" cy="713232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507" y="4528840"/>
            <a:ext cx="342351" cy="34235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23890" y="4306824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matrix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646066" y="50566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credentials, training, and gaps made visible before work starts.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066837" y="4032504"/>
            <a:ext cx="348477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6837" y="4032504"/>
            <a:ext cx="82296" cy="1627632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7" name="Shape 30"/>
          <p:cNvSpPr/>
          <p:nvPr/>
        </p:nvSpPr>
        <p:spPr>
          <a:xfrm>
            <a:off x="8359445" y="4343400"/>
            <a:ext cx="713232" cy="713232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885" y="4528840"/>
            <a:ext cx="342351" cy="34235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37269" y="4306824"/>
            <a:ext cx="21131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risk intelligence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359445" y="50566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Center, Risk Memory, and the AI injury-forecast engine.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42" name="Shape 34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43" name="Text 35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secure multi-tenant foundation — every company's data is isolated by row-level security.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whole safety operation on one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160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6400800" cy="50292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 ·  Company workspace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04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MEMORY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77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089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Band: </a:t>
            </a:r>
            <a:pPr indent="0" marL="0">
              <a:buNone/>
            </a:pPr>
            <a:r>
              <a:rPr lang="en-US" sz="11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Window: 90d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scopes: Fall protection · Housekeeping · Hot work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13830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93008"/>
            <a:ext cx="1383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7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913632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88870" y="3383280"/>
            <a:ext cx="13830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88870" y="3493008"/>
            <a:ext cx="1383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388870" y="3913632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09060" y="3383280"/>
            <a:ext cx="13830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9060" y="3493008"/>
            <a:ext cx="1383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09060" y="3913632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permits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29250" y="3383280"/>
            <a:ext cx="13830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9250" y="3493008"/>
            <a:ext cx="1383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330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29250" y="3913632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in flight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4434840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800600"/>
            <a:ext cx="146304" cy="14630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4754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fall-protection gaps at North Building</a:t>
            </a:r>
            <a:endParaRPr lang="en-US" sz="10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038344"/>
            <a:ext cx="146304" cy="14630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80160" y="49926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machine guarding before restart in Press Area</a:t>
            </a:r>
            <a:endParaRPr lang="en-US" sz="10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276088"/>
            <a:ext cx="146304" cy="14630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80160" y="52303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pre-task rigging checks with documented signoff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498080" y="1691640"/>
            <a:ext cx="548640" cy="54864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1834286"/>
            <a:ext cx="263347" cy="26334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211312" y="1655064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Memory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211312" y="194767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company-scoped risk score with the scopes and hazards driving it.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498080" y="2724912"/>
            <a:ext cx="548640" cy="54864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726" y="2867558"/>
            <a:ext cx="263347" cy="263347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211312" y="2688336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work, prioritized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8211312" y="2980944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incidents, permits, and JSAs ranked so the highest risk surfaces first.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7498080" y="3758184"/>
            <a:ext cx="548640" cy="54864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0726" y="3900830"/>
            <a:ext cx="263347" cy="26334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211312" y="3721608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211312" y="4014216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Stored, company-specific actions generated from your own data — never shared across tenants.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7498080" y="4791456"/>
            <a:ext cx="548640" cy="5486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0726" y="4934102"/>
            <a:ext cx="263347" cy="263347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211312" y="4754880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memory bank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8211312" y="5047488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rules and procedures your assistants and workflows remember.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WORKFLOWS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in the field, prioritize by risk, close with proof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crews and supervisors work from one connected loop — no re-keying, no lost paperwork.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90724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2888"/>
            <a:ext cx="749808" cy="749808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727838"/>
            <a:ext cx="359908" cy="3599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1071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JSA Builder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job-safety analyses tie hazards to controls and PPE before work starts.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3684" y="2240280"/>
            <a:ext cx="2590724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8004" y="2532888"/>
            <a:ext cx="749808" cy="749808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54" y="2727838"/>
            <a:ext cx="359908" cy="3599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8004" y="341071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 Center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8004" y="379476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track, and stop-work on hot-work, energized, and high-risk permits.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7288" y="2240280"/>
            <a:ext cx="2590724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532888"/>
            <a:ext cx="749808" cy="749808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58" y="2727838"/>
            <a:ext cx="359908" cy="3599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1608" y="341071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Issue Log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61608" y="379476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observations with severity, SIF potential, owner, due date, and photo proof.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60891" y="2240280"/>
            <a:ext cx="2590724" cy="23317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211" y="2532888"/>
            <a:ext cx="749808" cy="74980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161" y="2727838"/>
            <a:ext cx="359908" cy="3599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211" y="341071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reporting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211" y="3794760"/>
            <a:ext cx="2087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investigate, and drive corrective actions to verified closure.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892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304F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541" y="5033772"/>
            <a:ext cx="219456" cy="21945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667658" y="4892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304F"/>
          </a:solidFill>
          <a:ln/>
        </p:spPr>
      </p:sp>
      <p:sp>
        <p:nvSpPr>
          <p:cNvPr id="29" name="Text 22"/>
          <p:cNvSpPr/>
          <p:nvPr/>
        </p:nvSpPr>
        <p:spPr>
          <a:xfrm>
            <a:off x="3667658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</a:t>
            </a:r>
            <a:endParaRPr lang="en-US" sz="13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6120" y="503377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5237" y="4892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304F"/>
          </a:solidFill>
          <a:ln/>
        </p:spPr>
      </p:sp>
      <p:sp>
        <p:nvSpPr>
          <p:cNvPr id="32" name="Text 24"/>
          <p:cNvSpPr/>
          <p:nvPr/>
        </p:nvSpPr>
        <p:spPr>
          <a:xfrm>
            <a:off x="6695237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3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3698" y="5033772"/>
            <a:ext cx="219456" cy="219456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722815" y="4892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3304F"/>
          </a:solidFill>
          <a:ln/>
        </p:spPr>
      </p:sp>
      <p:sp>
        <p:nvSpPr>
          <p:cNvPr id="35" name="Text 26"/>
          <p:cNvSpPr/>
          <p:nvPr/>
        </p:nvSpPr>
        <p:spPr>
          <a:xfrm>
            <a:off x="9722815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&amp; verify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READINESS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Audit-ready every day — and you can prove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402336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field audits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083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907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audits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25880" y="31821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Category-based, OSHA-aligned checklists make inspections repeatable.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6674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visibility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325880" y="38404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become tracked corrective actions with owners and due dates.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224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Review-ready submissions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325880" y="4498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%, findings, hours, and evidence in one package.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8348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882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 summary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325880" y="51572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submission gets a plain-language summary of what to fix.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355080" y="1645920"/>
            <a:ext cx="5196535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75120" y="1965960"/>
            <a:ext cx="731520" cy="73152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315" y="2156155"/>
            <a:ext cx="351130" cy="35113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89520" y="2029968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Matrix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6720840" y="274320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ready, who's missing training, and what expires before work starts.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629400" y="3337560"/>
            <a:ext cx="4647895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26" name="Text 18"/>
          <p:cNvSpPr/>
          <p:nvPr/>
        </p:nvSpPr>
        <p:spPr>
          <a:xfrm>
            <a:off x="672084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04672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928116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Prot.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046988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7208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L.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80467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928116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10469880" y="3886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/>
        </p:spPr>
      </p:sp>
      <p:sp>
        <p:nvSpPr>
          <p:cNvPr id="34" name="Text 26"/>
          <p:cNvSpPr/>
          <p:nvPr/>
        </p:nvSpPr>
        <p:spPr>
          <a:xfrm>
            <a:off x="1046988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629400" y="4251960"/>
            <a:ext cx="4647895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6" name="Text 28"/>
          <p:cNvSpPr/>
          <p:nvPr/>
        </p:nvSpPr>
        <p:spPr>
          <a:xfrm>
            <a:off x="672084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Derrick P.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046720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Roofing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281160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10469880" y="4343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0" name="Text 32"/>
          <p:cNvSpPr/>
          <p:nvPr/>
        </p:nvSpPr>
        <p:spPr>
          <a:xfrm>
            <a:off x="1046988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720840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804672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28116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10469880" y="48006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/>
        </p:spPr>
      </p:sp>
      <p:sp>
        <p:nvSpPr>
          <p:cNvPr id="45" name="Text 37"/>
          <p:cNvSpPr/>
          <p:nvPr/>
        </p:nvSpPr>
        <p:spPr>
          <a:xfrm>
            <a:off x="1046988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629400" y="5166360"/>
            <a:ext cx="4647895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39"/>
          <p:cNvSpPr/>
          <p:nvPr/>
        </p:nvSpPr>
        <p:spPr>
          <a:xfrm>
            <a:off x="6720840" y="5166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C.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8046720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9281160" y="5166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10469880" y="52578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77F12"/>
          </a:solidFill>
          <a:ln/>
        </p:spPr>
      </p:sp>
      <p:sp>
        <p:nvSpPr>
          <p:cNvPr id="51" name="Text 43"/>
          <p:cNvSpPr/>
          <p:nvPr/>
        </p:nvSpPr>
        <p:spPr>
          <a:xfrm>
            <a:off x="10469880" y="5257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53" name="Shape 45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54" name="Text 46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storing certificates and proving readiness.</a:t>
            </a:r>
            <a:endParaRPr lang="en-US" sz="1250" dirty="0"/>
          </a:p>
        </p:txBody>
      </p:sp>
      <p:sp>
        <p:nvSpPr>
          <p:cNvPr id="55" name="Text 4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56" name="Text 4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109728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ENGINE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engine predicts risk —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turns it into prevention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model: reproducible deterministic evidence, reviewed by AI, grounded only in your data — with a recommended action for every signal.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INPUTS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learns from the data your team already creates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data-entry burden. The engine reads the records your crews log every day, normalized into one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76656" cy="67665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31" y="2644811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50592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history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218688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severity, body part, root cause, trade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3458" y="2194560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7778" y="2468880"/>
            <a:ext cx="676656" cy="676656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709" y="2644811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0738" y="2450592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observations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27778" y="3218688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Hazards, near misses, SIF potential, repeats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66837" y="2194560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41157" y="2468880"/>
            <a:ext cx="676656" cy="676656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087" y="2644811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64117" y="2450592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 actions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41157" y="3218688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overdue flags, verification, repeats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325112"/>
            <a:ext cx="676656" cy="676656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31" y="4501043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306824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Workforce exposure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4400" y="507492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overtime, crew size, new-worker ratio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53458" y="4050792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27778" y="4325112"/>
            <a:ext cx="676656" cy="676656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709" y="4501043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50738" y="4306824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&amp; weather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27778" y="507492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tied to historical injury context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66837" y="4050792"/>
            <a:ext cx="3484778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41157" y="4325112"/>
            <a:ext cx="676656" cy="676656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087" y="4501043"/>
            <a:ext cx="324795" cy="32479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64117" y="4306824"/>
            <a:ext cx="2204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&amp; training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41157" y="5074920"/>
            <a:ext cx="2981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JSAs, permits, inductions, competencies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6" name="Shape 28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37" name="Text 29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observations is not absence of risk — baselines and historical patterns still apply.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THE HYBRID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 math, reviewed by AI — never a black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889699" cy="2788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1889699" cy="82296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6" name="Shape 4"/>
          <p:cNvSpPr/>
          <p:nvPr/>
        </p:nvSpPr>
        <p:spPr>
          <a:xfrm>
            <a:off x="1200882" y="2441448"/>
            <a:ext cx="768096" cy="768096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586" y="2641153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319272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794760"/>
            <a:ext cx="159709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observations, exposure, and environment aligned to one canonical model.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87" y="342442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5539" y="2148840"/>
            <a:ext cx="1889699" cy="2788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95539" y="2148840"/>
            <a:ext cx="1889699" cy="82296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13" name="Shape 9"/>
          <p:cNvSpPr/>
          <p:nvPr/>
        </p:nvSpPr>
        <p:spPr>
          <a:xfrm>
            <a:off x="3456341" y="2441448"/>
            <a:ext cx="768096" cy="768096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046" y="2641153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05267" y="3319272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evidence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041843" y="3794760"/>
            <a:ext cx="159709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compute baselines, loss pressure, leading indicators, and controls — auditable and reproducible.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246" y="342442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0998" y="2148840"/>
            <a:ext cx="1889699" cy="2788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0998" y="2148840"/>
            <a:ext cx="1889699" cy="82296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2441448"/>
            <a:ext cx="768096" cy="768096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05" y="2641153"/>
            <a:ext cx="368686" cy="36868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60726" y="3319272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pack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297302" y="3794760"/>
            <a:ext cx="159709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factors plus guardrails assembled into a single context for the model.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705" y="342442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06457" y="2148840"/>
            <a:ext cx="1889699" cy="2788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406457" y="2148840"/>
            <a:ext cx="1889699" cy="82296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7" name="Shape 19"/>
          <p:cNvSpPr/>
          <p:nvPr/>
        </p:nvSpPr>
        <p:spPr>
          <a:xfrm>
            <a:off x="7967259" y="2441448"/>
            <a:ext cx="768096" cy="768096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64" y="2641153"/>
            <a:ext cx="368686" cy="36868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16185" y="3319272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final review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552761" y="3794760"/>
            <a:ext cx="159709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that writes the forecast — narrative, drivers, and actions, traceable to evidence.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164" y="3424428"/>
            <a:ext cx="23774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61916" y="2148840"/>
            <a:ext cx="1889699" cy="2788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661916" y="2148840"/>
            <a:ext cx="1889699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Shape 24"/>
          <p:cNvSpPr/>
          <p:nvPr/>
        </p:nvSpPr>
        <p:spPr>
          <a:xfrm>
            <a:off x="10222718" y="2441448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2423" y="2641153"/>
            <a:ext cx="368686" cy="36868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71644" y="3319272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+ actions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808220" y="3794760"/>
            <a:ext cx="159709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risk bands with confidence, recommended controls, and inspection focus.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9" name="Shape 28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0" name="Text 29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stays reproducible; the AI explains why — and is rejected if it can't cite the evidence.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PREDICT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forecast: what's most likely to hurt your team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90724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LOCATIONS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sites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3684" y="1737360"/>
            <a:ext cx="2590724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6564" y="1901952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INCIDENTS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96564" y="214884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77F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96564" y="276148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7288" y="1737360"/>
            <a:ext cx="2590724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0168" y="1901952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RISK 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70168" y="214884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330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70168" y="276148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0891" y="1737360"/>
            <a:ext cx="2590724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3771" y="1901952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3771" y="2148840"/>
            <a:ext cx="22249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9D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3771" y="2761488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predicted risk drivers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3794760"/>
          <a:ext cx="61264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675120" y="342900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locations by predicted risk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75120" y="3886200"/>
            <a:ext cx="4876495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DC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3886200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Building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0774375" y="393192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10774375" y="39319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675120" y="4279392"/>
            <a:ext cx="48764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12280" y="4279392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2 — North Yard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774375" y="432511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0" name="Text 27"/>
          <p:cNvSpPr/>
          <p:nvPr/>
        </p:nvSpPr>
        <p:spPr>
          <a:xfrm>
            <a:off x="10774375" y="43251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675120" y="4672584"/>
            <a:ext cx="4876495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DCE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12280" y="4672584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774375" y="471830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C77F12"/>
          </a:solidFill>
          <a:ln/>
        </p:spPr>
      </p:sp>
      <p:sp>
        <p:nvSpPr>
          <p:cNvPr id="34" name="Text 31"/>
          <p:cNvSpPr/>
          <p:nvPr/>
        </p:nvSpPr>
        <p:spPr>
          <a:xfrm>
            <a:off x="10774375" y="47183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675120" y="5065776"/>
            <a:ext cx="48764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6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12280" y="5065776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Area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774375" y="511149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C77F12"/>
          </a:solidFill>
          <a:ln/>
        </p:spPr>
      </p:sp>
      <p:sp>
        <p:nvSpPr>
          <p:cNvPr id="38" name="Text 35"/>
          <p:cNvSpPr/>
          <p:nvPr/>
        </p:nvSpPr>
        <p:spPr>
          <a:xfrm>
            <a:off x="10774375" y="5111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675120" y="5458968"/>
            <a:ext cx="4876495" cy="329184"/>
          </a:xfrm>
          <a:prstGeom prst="rect">
            <a:avLst/>
          </a:prstGeom>
          <a:solidFill>
            <a:srgbClr val="F4F7FB"/>
          </a:solidFill>
          <a:ln w="6350">
            <a:solidFill>
              <a:srgbClr val="DCE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12280" y="5458968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Storage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774375" y="550468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42" name="Text 39"/>
          <p:cNvSpPr/>
          <p:nvPr/>
        </p:nvSpPr>
        <p:spPr>
          <a:xfrm>
            <a:off x="10774375" y="55046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PREVENT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prediction comes with what to do about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you can't act on is just anxiety. The engine converts each signal into concrete, prioritized work for the next 30 days.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8477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484778" cy="82296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78608"/>
            <a:ext cx="731520" cy="73152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768803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596896"/>
            <a:ext cx="2204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themes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57016"/>
            <a:ext cx="155448" cy="155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46557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and categories that need leadership attention first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59936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96849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exposure, not gut feel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62856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47141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your open CAPA items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353458" y="2286000"/>
            <a:ext cx="348477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353458" y="2286000"/>
            <a:ext cx="3484778" cy="82296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18" name="Shape 12"/>
          <p:cNvSpPr/>
          <p:nvPr/>
        </p:nvSpPr>
        <p:spPr>
          <a:xfrm>
            <a:off x="4627778" y="2578608"/>
            <a:ext cx="731520" cy="73152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974" y="2768803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96458" y="2596896"/>
            <a:ext cx="2204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focus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066" y="3557016"/>
            <a:ext cx="155448" cy="1554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902098" y="346557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topics for crews and supervisors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066" y="4059936"/>
            <a:ext cx="155448" cy="1554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02098" y="396849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 &amp; lift planning with qualified-rigger checks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066" y="4562856"/>
            <a:ext cx="155448" cy="15544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902098" y="447141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recognition and pre-task planning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8066837" y="2286000"/>
            <a:ext cx="348477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8066837" y="2286000"/>
            <a:ext cx="3484778" cy="82296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9" name="Shape 19"/>
          <p:cNvSpPr/>
          <p:nvPr/>
        </p:nvSpPr>
        <p:spPr>
          <a:xfrm>
            <a:off x="8341157" y="257860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2768803"/>
            <a:ext cx="351130" cy="35113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09837" y="2596896"/>
            <a:ext cx="2204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controls</a:t>
            </a:r>
            <a:endParaRPr lang="en-US" sz="15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9445" y="3557016"/>
            <a:ext cx="155448" cy="15544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615477" y="346557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actions your team implements now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9445" y="4059936"/>
            <a:ext cx="155448" cy="15544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615477" y="396849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Fall-protection refresher for roofing crews</a:t>
            </a:r>
            <a:endParaRPr lang="en-US" sz="11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9445" y="4562856"/>
            <a:ext cx="155448" cy="15544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8615477" y="4471416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Pre-task rigging checks with supervisor signoff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9" name="Shape 25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0" name="Text 26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Acted-on actions feed back as new evidence — so the forecast keeps getting sharper. The loop closes.</a:t>
            </a:r>
            <a:endParaRPr lang="en-US" sz="1250" dirty="0"/>
          </a:p>
        </p:txBody>
      </p:sp>
      <p:sp>
        <p:nvSpPr>
          <p:cNvPr id="41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42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YOU CAN TRUST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you can put in front of an auditor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3200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13055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Evidence-linked, not invented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counts, and claims must come from structured evidence — ungrounded text is rejected.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87452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2148840"/>
            <a:ext cx="658368" cy="658368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954" y="232001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2450" y="213055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and confidence are separate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27778" y="288036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never gets reported as low risk; both are always shown.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66837" y="187452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1157" y="2148840"/>
            <a:ext cx="658368" cy="658368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332" y="232001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5829" y="213055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auditable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41157" y="288036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Trails, versioning, and reproducible math mean every forecast can be traced back.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428597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409651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learns from outcomes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484632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compares forecasts to what actually happened and recalibrates.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384048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7778" y="4114800"/>
            <a:ext cx="658368" cy="658368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954" y="4285976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2450" y="409651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&amp; isolated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27778" y="484632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keeps every company's data private — AI tables are server-only.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66837" y="3840480"/>
            <a:ext cx="3484778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1157" y="4114800"/>
            <a:ext cx="658368" cy="658368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332" y="4285976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5829" y="4096512"/>
            <a:ext cx="2204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false guarantees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41157" y="4846320"/>
            <a:ext cx="29818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carry no-guarantee language and explicit unknowns, by design.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time, cut admin cost, and lower risk before incidents happen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 replaces scattered manual work with one connected workflow for documents, observations, audits, readiness, and predictive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454298" cy="10972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7" name="Shape 5"/>
          <p:cNvSpPr/>
          <p:nvPr/>
        </p:nvSpPr>
        <p:spPr>
          <a:xfrm>
            <a:off x="1864309" y="2743200"/>
            <a:ext cx="1005840" cy="100584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828" y="300471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31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saved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repetitive admin across documents, audits, follow-up, and readiness tracking so your team focuses on the work that matters.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8698" y="233172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8698" y="2331720"/>
            <a:ext cx="3454298" cy="109728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13" name="Shape 10"/>
          <p:cNvSpPr/>
          <p:nvPr/>
        </p:nvSpPr>
        <p:spPr>
          <a:xfrm>
            <a:off x="5592928" y="2743200"/>
            <a:ext cx="1005840" cy="10058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300471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68698" y="3931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saved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88738" y="438912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labor and admin burden, reduce inefficiencies, and scale with confidence — without adding headcount.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97317" y="233172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2331720"/>
            <a:ext cx="3454298" cy="10972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19" name="Shape 15"/>
          <p:cNvSpPr/>
          <p:nvPr/>
        </p:nvSpPr>
        <p:spPr>
          <a:xfrm>
            <a:off x="9321546" y="2743200"/>
            <a:ext cx="1005840" cy="100584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064" y="300471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7317" y="3931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7357" y="438912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signals, earlier warnings, and preventive actions help teams act before incidents, not after.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5" name="Text 20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tools and preventive measures to reduce risk while saving time across your operation.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TIERS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tiers designed to grow with your operation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core tools your team needs, then expand into compliance, document workflows, and predictive insights as your program matures.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2590724" cy="64008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140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basics organized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930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&amp; permits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7705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6110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inspections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4515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029200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3413684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413684" y="2240280"/>
            <a:ext cx="2590724" cy="640080"/>
          </a:xfrm>
          <a:prstGeom prst="rect">
            <a:avLst/>
          </a:prstGeom>
          <a:solidFill>
            <a:srgbClr val="0E7C8B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852" y="241401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80612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550" dirty="0"/>
          </a:p>
        </p:txBody>
      </p:sp>
      <p:sp>
        <p:nvSpPr>
          <p:cNvPr id="24" name="Text 15"/>
          <p:cNvSpPr/>
          <p:nvPr/>
        </p:nvSpPr>
        <p:spPr>
          <a:xfrm>
            <a:off x="3614852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compliance visibility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4852" y="3493008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825164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4852" y="3877056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825164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4852" y="4261104"/>
            <a:ext cx="146304" cy="14630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825164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training tracking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4852" y="4645152"/>
            <a:ext cx="146304" cy="14630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825164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workflows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4852" y="5029200"/>
            <a:ext cx="146304" cy="14630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825164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visibility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6187288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6" name="Shape 22"/>
          <p:cNvSpPr/>
          <p:nvPr/>
        </p:nvSpPr>
        <p:spPr>
          <a:xfrm>
            <a:off x="6187288" y="2240280"/>
            <a:ext cx="2590724" cy="640080"/>
          </a:xfrm>
          <a:prstGeom prst="rect">
            <a:avLst/>
          </a:prstGeom>
          <a:solidFill>
            <a:srgbClr val="13304F"/>
          </a:solidFill>
          <a:ln/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8456" y="2414016"/>
            <a:ext cx="292608" cy="29260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754216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550" dirty="0"/>
          </a:p>
        </p:txBody>
      </p:sp>
      <p:sp>
        <p:nvSpPr>
          <p:cNvPr id="39" name="Text 24"/>
          <p:cNvSpPr/>
          <p:nvPr/>
        </p:nvSpPr>
        <p:spPr>
          <a:xfrm>
            <a:off x="6388456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Document-heavy operations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8456" y="3493008"/>
            <a:ext cx="146304" cy="146304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598768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8456" y="3877056"/>
            <a:ext cx="146304" cy="146304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598768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document builders</a:t>
            </a:r>
            <a:endParaRPr lang="en-US" sz="10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456" y="4261104"/>
            <a:ext cx="146304" cy="146304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598768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 / SSP workflows</a:t>
            </a:r>
            <a:endParaRPr lang="en-US" sz="105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8456" y="4645152"/>
            <a:ext cx="146304" cy="146304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598768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exports</a:t>
            </a:r>
            <a:endParaRPr lang="en-US" sz="105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8456" y="5029200"/>
            <a:ext cx="146304" cy="146304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598768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queue</a:t>
            </a:r>
            <a:endParaRPr lang="en-US" sz="1050" dirty="0"/>
          </a:p>
        </p:txBody>
      </p:sp>
      <p:sp>
        <p:nvSpPr>
          <p:cNvPr id="50" name="Shape 30"/>
          <p:cNvSpPr/>
          <p:nvPr/>
        </p:nvSpPr>
        <p:spPr>
          <a:xfrm>
            <a:off x="8960891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1" name="Shape 31"/>
          <p:cNvSpPr/>
          <p:nvPr/>
        </p:nvSpPr>
        <p:spPr>
          <a:xfrm>
            <a:off x="8960891" y="2240280"/>
            <a:ext cx="2590724" cy="6400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2059" y="2414016"/>
            <a:ext cx="292608" cy="292608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9527819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50" dirty="0"/>
          </a:p>
        </p:txBody>
      </p:sp>
      <p:sp>
        <p:nvSpPr>
          <p:cNvPr id="54" name="Text 33"/>
          <p:cNvSpPr/>
          <p:nvPr/>
        </p:nvSpPr>
        <p:spPr>
          <a:xfrm>
            <a:off x="9162059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scale &amp; AI insights</a:t>
            </a:r>
            <a:endParaRPr lang="en-US" sz="105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2059" y="3493008"/>
            <a:ext cx="146304" cy="146304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9372371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Advanced</a:t>
            </a:r>
            <a:endParaRPr lang="en-US" sz="1050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2059" y="3877056"/>
            <a:ext cx="146304" cy="146304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9372371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injury-forecast model</a:t>
            </a:r>
            <a:endParaRPr lang="en-US" sz="1050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2059" y="4261104"/>
            <a:ext cx="146304" cy="146304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9372371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05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2059" y="4645152"/>
            <a:ext cx="146304" cy="146304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9372371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Multi-jobsite visibility</a:t>
            </a:r>
            <a:endParaRPr lang="en-US" sz="1050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2059" y="5029200"/>
            <a:ext cx="146304" cy="146304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9372371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&amp; support</a:t>
            </a:r>
            <a:endParaRPr lang="en-US" sz="1050" dirty="0"/>
          </a:p>
        </p:txBody>
      </p:sp>
      <p:sp>
        <p:nvSpPr>
          <p:cNvPr id="65" name="Shape 39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66" name="Shape 40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67" name="Text 41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fits today — and add capability as your team, jobsites, and data grow.</a:t>
            </a:r>
            <a:endParaRPr lang="en-US" sz="1250" dirty="0"/>
          </a:p>
        </p:txBody>
      </p:sp>
      <p:sp>
        <p:nvSpPr>
          <p:cNvPr id="68" name="Text 4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69" name="Text 4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small, prove value, then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63164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Scope a pilot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1–3 jobsites and the core modules your team needs first.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3018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14" y="26316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7418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Prove value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3018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workflows for a defined window and measure time saved and risk surfaced.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7317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1637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32" y="263164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6037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Scale with confidence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71637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modules, sites, and predictive insights as adoption grows.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10911535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B2A3A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097280" y="463600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modernize safety with a cleaner, predictive operating model?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0972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EHS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255" y="465429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20863" y="4581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(913) 857-2515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255" y="50200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20863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stevenssladky1@gmail.com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528255" y="5422392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E7C8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295" y="554126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76895" y="5422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follow-up call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Safety360Docs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Safety360Docs — Predict Risk. Prevent Incidents.</dc:title>
  <dc:subject>PptxGenJS Presentation</dc:subject>
  <dc:creator>Reliance EHS</dc:creator>
  <cp:lastModifiedBy>Reliance EHS</cp:lastModifiedBy>
  <cp:revision>1</cp:revision>
  <dcterms:created xsi:type="dcterms:W3CDTF">2026-06-04T23:58:53Z</dcterms:created>
  <dcterms:modified xsi:type="dcterms:W3CDTF">2026-06-04T23:58:53Z</dcterms:modified>
</cp:coreProperties>
</file>
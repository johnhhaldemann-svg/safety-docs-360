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3108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20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Safety360 AI Engine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75488" y="804672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8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 view with the new behavior-risk model as the scoring trunk</a:t>
            </a:r>
            <a:endParaRPr lang="en-US" sz="980" dirty="0"/>
          </a:p>
        </p:txBody>
      </p:sp>
      <p:sp>
        <p:nvSpPr>
          <p:cNvPr id="4" name="Text 2"/>
          <p:cNvSpPr/>
          <p:nvPr/>
        </p:nvSpPr>
        <p:spPr>
          <a:xfrm>
            <a:off x="6446520" y="438912"/>
            <a:ext cx="5166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-&gt; deterministic scoring -&gt; AI surfaces -&gt; telemetry -&gt; learning loop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0" y="1115568"/>
            <a:ext cx="3063240" cy="749808"/>
          </a:xfrm>
          <a:prstGeom prst="roundRect">
            <a:avLst>
              <a:gd name="adj" fmla="val 9756"/>
            </a:avLst>
          </a:prstGeom>
          <a:solidFill>
            <a:srgbClr val="15202B"/>
          </a:solidFill>
          <a:ln w="15240">
            <a:solidFill>
              <a:srgbClr val="1520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1115568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18304" y="1225296"/>
            <a:ext cx="2770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Engine Root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4736592" y="1508760"/>
            <a:ext cx="2734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Company-scoped safety intelligence, predictive risk, and document assistance</a:t>
            </a:r>
            <a:endParaRPr lang="en-US" sz="810" dirty="0"/>
          </a:p>
        </p:txBody>
      </p:sp>
      <p:sp>
        <p:nvSpPr>
          <p:cNvPr id="9" name="Shape 7"/>
          <p:cNvSpPr/>
          <p:nvPr/>
        </p:nvSpPr>
        <p:spPr>
          <a:xfrm>
            <a:off x="438912" y="2359152"/>
            <a:ext cx="2084832" cy="1097280"/>
          </a:xfrm>
          <a:prstGeom prst="roundRect">
            <a:avLst>
              <a:gd name="adj" fmla="val 6667"/>
            </a:avLst>
          </a:prstGeom>
          <a:solidFill>
            <a:srgbClr val="EAF6F4"/>
          </a:solidFill>
          <a:ln w="15240">
            <a:solidFill>
              <a:srgbClr val="95C9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" y="2359152"/>
            <a:ext cx="73152" cy="10972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468880"/>
            <a:ext cx="17922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Intake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03504" y="2752344"/>
            <a:ext cx="175564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JSA activities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 observations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Corrective actions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gaps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2880360" y="2359152"/>
            <a:ext cx="2395728" cy="1097280"/>
          </a:xfrm>
          <a:prstGeom prst="roundRect">
            <a:avLst>
              <a:gd name="adj" fmla="val 6667"/>
            </a:avLst>
          </a:prstGeom>
          <a:solidFill>
            <a:srgbClr val="0F766E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2359152"/>
            <a:ext cx="73152" cy="1097280"/>
          </a:xfrm>
          <a:prstGeom prst="rect">
            <a:avLst/>
          </a:prstGeom>
          <a:solidFill>
            <a:srgbClr val="7DD3C7"/>
          </a:solidFill>
          <a:ln w="12700">
            <a:solidFill>
              <a:srgbClr val="7DD3C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26664" y="2468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Risk Model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044952" y="2752344"/>
            <a:ext cx="20665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1-30 day look-ahead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Driver points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0-100 score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-&gt; Critical level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drivers + actions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5687568" y="2359152"/>
            <a:ext cx="2157984" cy="1097280"/>
          </a:xfrm>
          <a:prstGeom prst="roundRect">
            <a:avLst>
              <a:gd name="adj" fmla="val 6667"/>
            </a:avLst>
          </a:prstGeom>
          <a:solidFill>
            <a:srgbClr val="EEF2FF"/>
          </a:solidFill>
          <a:ln w="15240">
            <a:solidFill>
              <a:srgbClr val="A8B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87568" y="2359152"/>
            <a:ext cx="73152" cy="1097280"/>
          </a:xfrm>
          <a:prstGeom prst="rect">
            <a:avLst/>
          </a:prstGeom>
          <a:solidFill>
            <a:srgbClr val="5B4B8A"/>
          </a:solidFill>
          <a:ln w="12700">
            <a:solidFill>
              <a:srgbClr val="5B4B8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468880"/>
            <a:ext cx="1865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5B4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Surfaces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5852160" y="275234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Intelligence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Memory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 Copilot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CSEP / GC review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Injury Weather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8247888" y="2359152"/>
            <a:ext cx="1682496" cy="1097280"/>
          </a:xfrm>
          <a:prstGeom prst="roundRect">
            <a:avLst>
              <a:gd name="adj" fmla="val 6667"/>
            </a:avLst>
          </a:prstGeom>
          <a:solidFill>
            <a:srgbClr val="FFF6E4"/>
          </a:solidFill>
          <a:ln w="15240">
            <a:solidFill>
              <a:srgbClr val="E7BE7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47888" y="2359152"/>
            <a:ext cx="73152" cy="10972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94192" y="2468880"/>
            <a:ext cx="13898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Ops Telemetry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8412480" y="2752344"/>
            <a:ext cx="135331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call log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</a:t>
            </a:r>
            <a:endParaRPr lang="en-US" sz="810" dirty="0"/>
          </a:p>
        </p:txBody>
      </p:sp>
      <p:sp>
        <p:nvSpPr>
          <p:cNvPr id="25" name="Shape 23"/>
          <p:cNvSpPr/>
          <p:nvPr/>
        </p:nvSpPr>
        <p:spPr>
          <a:xfrm>
            <a:off x="10277856" y="2359152"/>
            <a:ext cx="1481328" cy="1097280"/>
          </a:xfrm>
          <a:prstGeom prst="roundRect">
            <a:avLst>
              <a:gd name="adj" fmla="val 6667"/>
            </a:avLst>
          </a:prstGeom>
          <a:solidFill>
            <a:srgbClr val="FEEDEA"/>
          </a:solidFill>
          <a:ln w="15240">
            <a:solidFill>
              <a:srgbClr val="E5A2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77856" y="2359152"/>
            <a:ext cx="73152" cy="109728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24160" y="24688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Loop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10442448" y="2752344"/>
            <a:ext cx="11521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Feedback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Field-used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810" dirty="0"/>
          </a:p>
          <a:p>
            <a:pPr algn="ctr" indent="0" marL="0">
              <a:buNone/>
            </a:pPr>
            <a:r>
              <a:rPr lang="en-US" sz="810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810" dirty="0"/>
          </a:p>
        </p:txBody>
      </p:sp>
      <p:sp>
        <p:nvSpPr>
          <p:cNvPr id="29" name="Shape 27"/>
          <p:cNvSpPr/>
          <p:nvPr/>
        </p:nvSpPr>
        <p:spPr>
          <a:xfrm>
            <a:off x="6103620" y="1865376"/>
            <a:ext cx="0" cy="246888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481328" y="2112264"/>
            <a:ext cx="9537192" cy="0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1481328" y="2112264"/>
            <a:ext cx="0" cy="246888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2" name="Shape 30"/>
          <p:cNvSpPr/>
          <p:nvPr/>
        </p:nvSpPr>
        <p:spPr>
          <a:xfrm>
            <a:off x="4078224" y="2112264"/>
            <a:ext cx="0" cy="246888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6766560" y="2112264"/>
            <a:ext cx="0" cy="246888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9089136" y="2112264"/>
            <a:ext cx="0" cy="246888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5" name="Shape 33"/>
          <p:cNvSpPr/>
          <p:nvPr/>
        </p:nvSpPr>
        <p:spPr>
          <a:xfrm>
            <a:off x="11018520" y="2112264"/>
            <a:ext cx="0" cy="246888"/>
          </a:xfrm>
          <a:prstGeom prst="line">
            <a:avLst/>
          </a:prstGeom>
          <a:noFill/>
          <a:ln w="1778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2880360" y="3776472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behavior drivers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633472" y="4078224"/>
            <a:ext cx="786384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0048" y="4119372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JSA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511296" y="4078224"/>
            <a:ext cx="1078992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7872" y="411937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control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681728" y="4078224"/>
            <a:ext cx="1152144" cy="256032"/>
          </a:xfrm>
          <a:prstGeom prst="roundRect">
            <a:avLst>
              <a:gd name="adj" fmla="val 28571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18304" y="4119372"/>
            <a:ext cx="10789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 mismatch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907792" y="4416552"/>
            <a:ext cx="932688" cy="256032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944368" y="4457700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gap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3968496" y="4416552"/>
            <a:ext cx="896112" cy="256032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4457700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SOR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992624" y="4416552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0" y="44577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incident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761488" y="4754880"/>
            <a:ext cx="1170432" cy="256032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98064" y="479602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pressure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078224" y="4754880"/>
            <a:ext cx="987552" cy="256032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0" y="479602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 overlap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5193792" y="4754880"/>
            <a:ext cx="1225296" cy="256032"/>
          </a:xfrm>
          <a:prstGeom prst="roundRect">
            <a:avLst>
              <a:gd name="adj" fmla="val 28571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30368" y="4796028"/>
            <a:ext cx="1152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dependency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078224" y="3456432"/>
            <a:ext cx="0" cy="521208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6" name="Shape 54"/>
          <p:cNvSpPr/>
          <p:nvPr/>
        </p:nvSpPr>
        <p:spPr>
          <a:xfrm>
            <a:off x="3026664" y="3977640"/>
            <a:ext cx="2706624" cy="0"/>
          </a:xfrm>
          <a:prstGeom prst="line">
            <a:avLst/>
          </a:prstGeom>
          <a:noFill/>
          <a:ln w="15875">
            <a:solidFill>
              <a:srgbClr val="0F766E"/>
            </a:solidFill>
            <a:prstDash val="solid"/>
            <a:headEnd type="none"/>
            <a:tailEnd type="none"/>
          </a:ln>
        </p:spPr>
      </p:sp>
      <p:sp>
        <p:nvSpPr>
          <p:cNvPr id="57" name="Shape 55"/>
          <p:cNvSpPr/>
          <p:nvPr/>
        </p:nvSpPr>
        <p:spPr>
          <a:xfrm>
            <a:off x="612648" y="4160520"/>
            <a:ext cx="173736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C9D4D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2648" y="4160520"/>
            <a:ext cx="73152" cy="69494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8952" y="427024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Guard</a:t>
            </a:r>
            <a:endParaRPr lang="en-US" sz="1080" dirty="0"/>
          </a:p>
        </p:txBody>
      </p:sp>
      <p:sp>
        <p:nvSpPr>
          <p:cNvPr id="60" name="Text 58"/>
          <p:cNvSpPr/>
          <p:nvPr/>
        </p:nvSpPr>
        <p:spPr>
          <a:xfrm>
            <a:off x="777240" y="4553712"/>
            <a:ext cx="1408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RBAC + company/jobsite access before model input</a:t>
            </a:r>
            <a:endParaRPr lang="en-US" sz="810" dirty="0"/>
          </a:p>
        </p:txBody>
      </p:sp>
      <p:sp>
        <p:nvSpPr>
          <p:cNvPr id="61" name="Shape 59"/>
          <p:cNvSpPr/>
          <p:nvPr/>
        </p:nvSpPr>
        <p:spPr>
          <a:xfrm>
            <a:off x="6446520" y="4187952"/>
            <a:ext cx="1828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9D4D8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446520" y="4187952"/>
            <a:ext cx="73152" cy="65836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92824" y="4297680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080" dirty="0"/>
          </a:p>
        </p:txBody>
      </p:sp>
      <p:sp>
        <p:nvSpPr>
          <p:cNvPr id="64" name="Text 62"/>
          <p:cNvSpPr/>
          <p:nvPr/>
        </p:nvSpPr>
        <p:spPr>
          <a:xfrm>
            <a:off x="6611112" y="4581144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risk level, source events, rollups by trade/supervisor</a:t>
            </a:r>
            <a:endParaRPr lang="en-US" sz="810" dirty="0"/>
          </a:p>
        </p:txBody>
      </p:sp>
      <p:sp>
        <p:nvSpPr>
          <p:cNvPr id="65" name="Shape 63"/>
          <p:cNvSpPr/>
          <p:nvPr/>
        </p:nvSpPr>
        <p:spPr>
          <a:xfrm>
            <a:off x="8915400" y="4187952"/>
            <a:ext cx="21762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240">
            <a:solidFill>
              <a:srgbClr val="C9D4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15400" y="4187952"/>
            <a:ext cx="73152" cy="658368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061704" y="429768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520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Superadmin AI Engine</a:t>
            </a:r>
            <a:endParaRPr lang="en-US" sz="1080" dirty="0"/>
          </a:p>
        </p:txBody>
      </p:sp>
      <p:sp>
        <p:nvSpPr>
          <p:cNvPr id="68" name="Text 66"/>
          <p:cNvSpPr/>
          <p:nvPr/>
        </p:nvSpPr>
        <p:spPr>
          <a:xfrm>
            <a:off x="9079992" y="4581144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536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metrics, calls, feedback, evals, deterministic recommendations</a:t>
            </a:r>
            <a:endParaRPr lang="en-US" sz="810" dirty="0"/>
          </a:p>
        </p:txBody>
      </p:sp>
      <p:sp>
        <p:nvSpPr>
          <p:cNvPr id="69" name="Shape 67"/>
          <p:cNvSpPr/>
          <p:nvPr/>
        </p:nvSpPr>
        <p:spPr>
          <a:xfrm>
            <a:off x="2350008" y="4507992"/>
            <a:ext cx="411480" cy="0"/>
          </a:xfrm>
          <a:prstGeom prst="line">
            <a:avLst/>
          </a:prstGeom>
          <a:noFill/>
          <a:ln w="1397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70" name="Shape 68"/>
          <p:cNvSpPr/>
          <p:nvPr/>
        </p:nvSpPr>
        <p:spPr>
          <a:xfrm>
            <a:off x="6382512" y="4507992"/>
            <a:ext cx="64008" cy="0"/>
          </a:xfrm>
          <a:prstGeom prst="line">
            <a:avLst/>
          </a:prstGeom>
          <a:noFill/>
          <a:ln w="1397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71" name="Shape 69"/>
          <p:cNvSpPr/>
          <p:nvPr/>
        </p:nvSpPr>
        <p:spPr>
          <a:xfrm>
            <a:off x="8275320" y="4507992"/>
            <a:ext cx="640080" cy="0"/>
          </a:xfrm>
          <a:prstGeom prst="line">
            <a:avLst/>
          </a:prstGeom>
          <a:noFill/>
          <a:ln w="13970">
            <a:solidFill>
              <a:srgbClr val="9AA7B2"/>
            </a:solidFill>
            <a:prstDash val="solid"/>
            <a:headEnd type="none"/>
            <a:tailEnd type="none"/>
          </a:ln>
        </p:spPr>
      </p:sp>
      <p:sp>
        <p:nvSpPr>
          <p:cNvPr id="72" name="Shape 70"/>
          <p:cNvSpPr/>
          <p:nvPr/>
        </p:nvSpPr>
        <p:spPr>
          <a:xfrm>
            <a:off x="11091672" y="4507992"/>
            <a:ext cx="0" cy="-1051560"/>
          </a:xfrm>
          <a:prstGeom prst="line">
            <a:avLst/>
          </a:prstGeom>
          <a:noFill/>
          <a:ln w="13970">
            <a:solidFill>
              <a:srgbClr val="B42318"/>
            </a:solidFill>
            <a:prstDash val="solid"/>
            <a:headEnd type="none"/>
            <a:tailEnd type="none"/>
          </a:ln>
        </p:spPr>
      </p:sp>
      <p:sp>
        <p:nvSpPr>
          <p:cNvPr id="73" name="Text 71"/>
          <p:cNvSpPr/>
          <p:nvPr/>
        </p:nvSpPr>
        <p:spPr>
          <a:xfrm>
            <a:off x="475488" y="6419088"/>
            <a:ext cx="8869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anchors: lib/predictive/behaviorRisk.ts, app/api/predictive/behavior-risk/route.ts, lib/superadmin/aiEngineOperations.ts</a:t>
            </a:r>
            <a:endParaRPr lang="en-US" sz="680" dirty="0"/>
          </a:p>
        </p:txBody>
      </p:sp>
      <p:sp>
        <p:nvSpPr>
          <p:cNvPr id="74" name="Text 72"/>
          <p:cNvSpPr/>
          <p:nvPr/>
        </p:nvSpPr>
        <p:spPr>
          <a:xfrm>
            <a:off x="9738360" y="6419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80" dirty="0">
                <a:solidFill>
                  <a:srgbClr val="6B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Draft architecture tree - May 2026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Safety360docs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Safety360 AI Engine Tree</dc:title>
  <dc:subject>AI Engine tree with behavior risk model</dc:subject>
  <dc:creator>Safety360docs</dc:creator>
  <cp:lastModifiedBy>Safety360docs</cp:lastModifiedBy>
  <cp:revision>1</cp:revision>
  <dcterms:created xsi:type="dcterms:W3CDTF">2026-05-08T03:51:46Z</dcterms:created>
  <dcterms:modified xsi:type="dcterms:W3CDTF">2026-05-08T03:51:46Z</dcterms:modified>
</cp:coreProperties>
</file>